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Arimo SemiBold"/>
      <p:regular r:id="rId16"/>
      <p:bold r:id="rId17"/>
      <p:italic r:id="rId18"/>
      <p:boldItalic r:id="rId19"/>
    </p:embeddedFont>
    <p:embeddedFont>
      <p:font typeface="Arimo"/>
      <p:regular r:id="rId20"/>
      <p:bold r:id="rId21"/>
      <p:italic r:id="rId22"/>
      <p:boldItalic r:id="rId23"/>
    </p:embeddedFont>
    <p:embeddedFont>
      <p:font typeface="Azeret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mo-regular.fntdata"/><Relationship Id="rId22" Type="http://schemas.openxmlformats.org/officeDocument/2006/relationships/font" Target="fonts/Arimo-italic.fntdata"/><Relationship Id="rId21" Type="http://schemas.openxmlformats.org/officeDocument/2006/relationships/font" Target="fonts/Arimo-bold.fntdata"/><Relationship Id="rId24" Type="http://schemas.openxmlformats.org/officeDocument/2006/relationships/font" Target="fonts/AzeretMono-regular.fntdata"/><Relationship Id="rId23" Type="http://schemas.openxmlformats.org/officeDocument/2006/relationships/font" Target="fonts/Arim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zeretMono-italic.fntdata"/><Relationship Id="rId25" Type="http://schemas.openxmlformats.org/officeDocument/2006/relationships/font" Target="fonts/AzeretMono-bold.fntdata"/><Relationship Id="rId27" Type="http://schemas.openxmlformats.org/officeDocument/2006/relationships/font" Target="fonts/Azeret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rimoSemiBold-bold.fntdata"/><Relationship Id="rId16" Type="http://schemas.openxmlformats.org/officeDocument/2006/relationships/font" Target="fonts/ArimoSemiBold-regular.fntdata"/><Relationship Id="rId19" Type="http://schemas.openxmlformats.org/officeDocument/2006/relationships/font" Target="fonts/ArimoSemiBold-boldItalic.fntdata"/><Relationship Id="rId18" Type="http://schemas.openxmlformats.org/officeDocument/2006/relationships/font" Target="fonts/Arimo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9047f2c76_0_1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e9047f2c76_0_17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9047f2c76_0_20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9047f2c76_0_2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a0bb3f40d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a0bb3f40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a0bb3f40d_0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a0bb3f40d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a09712f6f_23_0)">
  <p:cSld name="Generated (g3ea09712f6f_23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30.jpg"/><Relationship Id="rId5"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6" name="Google Shape;86;p14"/>
          <p:cNvPicPr preferRelativeResize="0"/>
          <p:nvPr/>
        </p:nvPicPr>
        <p:blipFill rotWithShape="1">
          <a:blip r:embed="rId4">
            <a:alphaModFix/>
          </a:blip>
          <a:srcRect b="0" l="0" r="0" t="0"/>
          <a:stretch/>
        </p:blipFill>
        <p:spPr>
          <a:xfrm>
            <a:off x="2571750" y="1694557"/>
            <a:ext cx="7048500" cy="3468737"/>
          </a:xfrm>
          <a:prstGeom prst="rect">
            <a:avLst/>
          </a:prstGeom>
          <a:noFill/>
          <a:ln>
            <a:noFill/>
          </a:ln>
        </p:spPr>
      </p:pic>
      <p:pic>
        <p:nvPicPr>
          <p:cNvPr descr="image.png" id="87" name="Google Shape;87;p14"/>
          <p:cNvPicPr preferRelativeResize="0"/>
          <p:nvPr/>
        </p:nvPicPr>
        <p:blipFill rotWithShape="1">
          <a:blip r:embed="rId5">
            <a:alphaModFix/>
          </a:blip>
          <a:srcRect b="0" l="0" r="0" t="0"/>
          <a:stretch/>
        </p:blipFill>
        <p:spPr>
          <a:xfrm>
            <a:off x="882170" y="-224727"/>
            <a:ext cx="841251" cy="908603"/>
          </a:xfrm>
          <a:prstGeom prst="rect">
            <a:avLst/>
          </a:prstGeom>
          <a:noFill/>
          <a:ln>
            <a:noFill/>
          </a:ln>
        </p:spPr>
      </p:pic>
      <p:sp>
        <p:nvSpPr>
          <p:cNvPr id="88" name="Google Shape;88;p14"/>
          <p:cNvSpPr txBox="1"/>
          <p:nvPr/>
        </p:nvSpPr>
        <p:spPr>
          <a:xfrm>
            <a:off x="2815589" y="2094607"/>
            <a:ext cx="6560820"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Azeret Mono"/>
                <a:ea typeface="Azeret Mono"/>
                <a:cs typeface="Azeret Mono"/>
                <a:sym typeface="Azeret Mono"/>
              </a:rPr>
              <a:t>Software Landing</a:t>
            </a:r>
            <a:endParaRPr/>
          </a:p>
        </p:txBody>
      </p:sp>
      <p:sp>
        <p:nvSpPr>
          <p:cNvPr id="89" name="Google Shape;89;p14"/>
          <p:cNvSpPr txBox="1"/>
          <p:nvPr/>
        </p:nvSpPr>
        <p:spPr>
          <a:xfrm>
            <a:off x="2971800" y="3075682"/>
            <a:ext cx="6248400" cy="32310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2563EB"/>
                </a:solidFill>
                <a:latin typeface="Arimo SemiBold"/>
                <a:ea typeface="Arimo SemiBold"/>
                <a:cs typeface="Arimo SemiBold"/>
                <a:sym typeface="Arimo SemiBold"/>
              </a:rPr>
              <a:t>AI Onboarding Assistant</a:t>
            </a:r>
            <a:endParaRPr/>
          </a:p>
        </p:txBody>
      </p:sp>
      <p:sp>
        <p:nvSpPr>
          <p:cNvPr id="90" name="Google Shape;90;p14"/>
          <p:cNvSpPr txBox="1"/>
          <p:nvPr/>
        </p:nvSpPr>
        <p:spPr>
          <a:xfrm>
            <a:off x="2971800" y="3883372"/>
            <a:ext cx="6248400" cy="626400"/>
          </a:xfrm>
          <a:prstGeom prst="rect">
            <a:avLst/>
          </a:prstGeom>
          <a:noFill/>
          <a:ln>
            <a:noFill/>
          </a:ln>
        </p:spPr>
        <p:txBody>
          <a:bodyPr anchorCtr="0" anchor="t" bIns="0" lIns="0" spcFirstLastPara="1" rIns="0" wrap="square" tIns="0">
            <a:spAutoFit/>
          </a:bodyPr>
          <a:lstStyle/>
          <a:p>
            <a:pPr indent="0" lvl="0" marL="0" marR="0" rtl="0" algn="ctr">
              <a:lnSpc>
                <a:spcPct val="146666"/>
              </a:lnSpc>
              <a:spcBef>
                <a:spcPts val="0"/>
              </a:spcBef>
              <a:spcAft>
                <a:spcPts val="0"/>
              </a:spcAft>
              <a:buNone/>
            </a:pPr>
            <a:r>
              <a:rPr b="1" i="0" lang="en-US" sz="1650" u="none" cap="none" strike="noStrike">
                <a:solidFill>
                  <a:srgbClr val="475569"/>
                </a:solidFill>
                <a:latin typeface="Arimo"/>
                <a:ea typeface="Arimo"/>
                <a:cs typeface="Arimo"/>
                <a:sym typeface="Arimo"/>
              </a:rPr>
              <a:t>Ariel Saadon</a:t>
            </a:r>
            <a:r>
              <a:rPr b="0" i="0" lang="en-US" sz="1650" u="none" cap="none" strike="noStrike">
                <a:solidFill>
                  <a:srgbClr val="475569"/>
                </a:solidFill>
                <a:latin typeface="Arimo"/>
                <a:ea typeface="Arimo"/>
                <a:cs typeface="Arimo"/>
                <a:sym typeface="Arimo"/>
              </a:rPr>
              <a:t> </a:t>
            </a:r>
            <a:br>
              <a:rPr b="0" i="0" lang="en-US" sz="1800" u="none" cap="none" strike="noStrike">
                <a:solidFill>
                  <a:schemeClr val="dk1"/>
                </a:solidFill>
                <a:latin typeface="Calibri"/>
                <a:ea typeface="Calibri"/>
                <a:cs typeface="Calibri"/>
                <a:sym typeface="Calibri"/>
              </a:rPr>
            </a:br>
            <a:r>
              <a:rPr b="0" i="0" lang="en-US" sz="1650" u="none" cap="none" strike="noStrike">
                <a:solidFill>
                  <a:srgbClr val="475569"/>
                </a:solidFill>
                <a:latin typeface="Arimo"/>
                <a:ea typeface="Arimo"/>
                <a:cs typeface="Arimo"/>
                <a:sym typeface="Arimo"/>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grpSp>
        <p:nvGrpSpPr>
          <p:cNvPr id="95" name="Google Shape;95;p15"/>
          <p:cNvGrpSpPr/>
          <p:nvPr/>
        </p:nvGrpSpPr>
        <p:grpSpPr>
          <a:xfrm>
            <a:off x="762000" y="476250"/>
            <a:ext cx="10668000" cy="638325"/>
            <a:chOff x="762000" y="476250"/>
            <a:chExt cx="10668000" cy="638325"/>
          </a:xfrm>
        </p:grpSpPr>
        <p:sp>
          <p:nvSpPr>
            <p:cNvPr id="96" name="Google Shape;96;p15"/>
            <p:cNvSpPr txBox="1"/>
            <p:nvPr/>
          </p:nvSpPr>
          <p:spPr>
            <a:xfrm>
              <a:off x="762000" y="476250"/>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F172A"/>
                  </a:solidFill>
                  <a:latin typeface="Azeret Mono"/>
                  <a:ea typeface="Azeret Mono"/>
                  <a:cs typeface="Azeret Mono"/>
                  <a:sym typeface="Azeret Mono"/>
                </a:rPr>
                <a:t>About Me</a:t>
              </a:r>
              <a:endParaRPr b="1" sz="3600">
                <a:solidFill>
                  <a:srgbClr val="0F172A"/>
                </a:solidFill>
                <a:latin typeface="Azeret Mono"/>
                <a:ea typeface="Azeret Mono"/>
                <a:cs typeface="Azeret Mono"/>
                <a:sym typeface="Azeret Mono"/>
              </a:endParaRPr>
            </a:p>
          </p:txBody>
        </p:sp>
        <p:sp>
          <p:nvSpPr>
            <p:cNvPr id="97" name="Google Shape;97;p15"/>
            <p:cNvSpPr/>
            <p:nvPr/>
          </p:nvSpPr>
          <p:spPr>
            <a:xfrm>
              <a:off x="762000" y="1095375"/>
              <a:ext cx="106680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8" name="Google Shape;98;p15"/>
          <p:cNvGrpSpPr/>
          <p:nvPr/>
        </p:nvGrpSpPr>
        <p:grpSpPr>
          <a:xfrm>
            <a:off x="762000" y="1524000"/>
            <a:ext cx="3238500" cy="4572000"/>
            <a:chOff x="762000" y="1524000"/>
            <a:chExt cx="3238500" cy="4572000"/>
          </a:xfrm>
        </p:grpSpPr>
        <p:sp>
          <p:nvSpPr>
            <p:cNvPr id="99" name="Google Shape;99;p15"/>
            <p:cNvSpPr/>
            <p:nvPr/>
          </p:nvSpPr>
          <p:spPr>
            <a:xfrm>
              <a:off x="762000" y="1524000"/>
              <a:ext cx="3238500" cy="45720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1333500" y="1905000"/>
              <a:ext cx="2095500" cy="2095500"/>
            </a:xfrm>
            <a:prstGeom prst="roundRect">
              <a:avLst>
                <a:gd fmla="val 50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1333500" y="2080260"/>
              <a:ext cx="2095500" cy="209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2000">
                  <a:solidFill>
                    <a:srgbClr val="94A3B8"/>
                  </a:solidFill>
                  <a:latin typeface="Material Icons"/>
                  <a:ea typeface="Material Icons"/>
                  <a:cs typeface="Material Icons"/>
                  <a:sym typeface="Material Icons"/>
                </a:rPr>
                <a:t>account_circle</a:t>
              </a:r>
              <a:endParaRPr sz="12000">
                <a:solidFill>
                  <a:srgbClr val="94A3B8"/>
                </a:solidFill>
                <a:latin typeface="Material Icons"/>
                <a:ea typeface="Material Icons"/>
                <a:cs typeface="Material Icons"/>
                <a:sym typeface="Material Icons"/>
              </a:endParaRPr>
            </a:p>
          </p:txBody>
        </p:sp>
        <p:sp>
          <p:nvSpPr>
            <p:cNvPr id="102" name="Google Shape;102;p15"/>
            <p:cNvSpPr txBox="1"/>
            <p:nvPr/>
          </p:nvSpPr>
          <p:spPr>
            <a:xfrm>
              <a:off x="952500" y="4191000"/>
              <a:ext cx="2857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400">
                  <a:solidFill>
                    <a:srgbClr val="0F172A"/>
                  </a:solidFill>
                  <a:latin typeface="Arimo"/>
                  <a:ea typeface="Arimo"/>
                  <a:cs typeface="Arimo"/>
                  <a:sym typeface="Arimo"/>
                </a:rPr>
                <a:t>Ariel Saadon</a:t>
              </a:r>
              <a:endParaRPr b="1" sz="2400">
                <a:solidFill>
                  <a:srgbClr val="0F172A"/>
                </a:solidFill>
                <a:latin typeface="Arimo"/>
                <a:ea typeface="Arimo"/>
                <a:cs typeface="Arimo"/>
                <a:sym typeface="Arimo"/>
              </a:endParaRPr>
            </a:p>
          </p:txBody>
        </p:sp>
        <p:sp>
          <p:nvSpPr>
            <p:cNvPr id="103" name="Google Shape;103;p15"/>
            <p:cNvSpPr/>
            <p:nvPr/>
          </p:nvSpPr>
          <p:spPr>
            <a:xfrm>
              <a:off x="1524000" y="4857750"/>
              <a:ext cx="1714500" cy="304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txBox="1"/>
            <p:nvPr/>
          </p:nvSpPr>
          <p:spPr>
            <a:xfrm>
              <a:off x="1524000" y="4857750"/>
              <a:ext cx="17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2563EB"/>
                  </a:solidFill>
                  <a:latin typeface="Arimo SemiBold"/>
                  <a:ea typeface="Arimo SemiBold"/>
                  <a:cs typeface="Arimo SemiBold"/>
                  <a:sym typeface="Arimo SemiBold"/>
                </a:rPr>
                <a:t>Computer Science</a:t>
              </a:r>
              <a:endParaRPr b="0" sz="1200">
                <a:solidFill>
                  <a:srgbClr val="2563EB"/>
                </a:solidFill>
                <a:latin typeface="Arimo SemiBold"/>
                <a:ea typeface="Arimo SemiBold"/>
                <a:cs typeface="Arimo SemiBold"/>
                <a:sym typeface="Arimo SemiBold"/>
              </a:endParaRPr>
            </a:p>
          </p:txBody>
        </p:sp>
      </p:grpSp>
      <p:grpSp>
        <p:nvGrpSpPr>
          <p:cNvPr id="105" name="Google Shape;105;p15"/>
          <p:cNvGrpSpPr/>
          <p:nvPr/>
        </p:nvGrpSpPr>
        <p:grpSpPr>
          <a:xfrm>
            <a:off x="4381500" y="1524000"/>
            <a:ext cx="7048500" cy="4572000"/>
            <a:chOff x="4381500" y="1524000"/>
            <a:chExt cx="7048500" cy="4572000"/>
          </a:xfrm>
        </p:grpSpPr>
        <p:grpSp>
          <p:nvGrpSpPr>
            <p:cNvPr id="106" name="Google Shape;106;p15"/>
            <p:cNvGrpSpPr/>
            <p:nvPr/>
          </p:nvGrpSpPr>
          <p:grpSpPr>
            <a:xfrm>
              <a:off x="4381500" y="1524000"/>
              <a:ext cx="7048500" cy="952500"/>
              <a:chOff x="4381500" y="1524000"/>
              <a:chExt cx="7048500" cy="952500"/>
            </a:xfrm>
          </p:grpSpPr>
          <p:sp>
            <p:nvSpPr>
              <p:cNvPr id="107" name="Google Shape;107;p15"/>
              <p:cNvSpPr/>
              <p:nvPr/>
            </p:nvSpPr>
            <p:spPr>
              <a:xfrm>
                <a:off x="4381500" y="1524000"/>
                <a:ext cx="70485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5"/>
              <p:cNvSpPr txBox="1"/>
              <p:nvPr/>
            </p:nvSpPr>
            <p:spPr>
              <a:xfrm>
                <a:off x="4572000" y="1803019"/>
                <a:ext cx="47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3B82F6"/>
                    </a:solidFill>
                    <a:latin typeface="Material Icons"/>
                    <a:ea typeface="Material Icons"/>
                    <a:cs typeface="Material Icons"/>
                    <a:sym typeface="Material Icons"/>
                  </a:rPr>
                  <a:t>account_balance</a:t>
                </a:r>
                <a:endParaRPr sz="2800">
                  <a:solidFill>
                    <a:srgbClr val="3B82F6"/>
                  </a:solidFill>
                  <a:latin typeface="Material Icons"/>
                  <a:ea typeface="Material Icons"/>
                  <a:cs typeface="Material Icons"/>
                  <a:sym typeface="Material Icons"/>
                </a:endParaRPr>
              </a:p>
            </p:txBody>
          </p:sp>
          <p:sp>
            <p:nvSpPr>
              <p:cNvPr id="109" name="Google Shape;109;p15"/>
              <p:cNvSpPr txBox="1"/>
              <p:nvPr/>
            </p:nvSpPr>
            <p:spPr>
              <a:xfrm>
                <a:off x="5191125" y="1666875"/>
                <a:ext cx="60483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64748B"/>
                    </a:solidFill>
                    <a:latin typeface="Arimo"/>
                    <a:ea typeface="Arimo"/>
                    <a:cs typeface="Arimo"/>
                    <a:sym typeface="Arimo"/>
                  </a:rPr>
                  <a:t>Institution</a:t>
                </a:r>
                <a:endParaRPr b="0" sz="1400">
                  <a:solidFill>
                    <a:srgbClr val="64748B"/>
                  </a:solidFill>
                  <a:latin typeface="Arimo"/>
                  <a:ea typeface="Arimo"/>
                  <a:cs typeface="Arimo"/>
                  <a:sym typeface="Arimo"/>
                </a:endParaRPr>
              </a:p>
              <a:p>
                <a:pPr indent="0" lvl="0" marL="0" rtl="0" algn="l">
                  <a:spcBef>
                    <a:spcPts val="0"/>
                  </a:spcBef>
                  <a:spcAft>
                    <a:spcPts val="0"/>
                  </a:spcAft>
                  <a:buNone/>
                </a:pPr>
                <a:r>
                  <a:rPr b="1" lang="en-US" sz="1800">
                    <a:solidFill>
                      <a:srgbClr val="0F172A"/>
                    </a:solidFill>
                    <a:latin typeface="Arimo"/>
                    <a:ea typeface="Arimo"/>
                    <a:cs typeface="Arimo"/>
                    <a:sym typeface="Arimo"/>
                  </a:rPr>
                  <a:t>Ariel University</a:t>
                </a:r>
                <a:endParaRPr b="1" sz="1800">
                  <a:solidFill>
                    <a:srgbClr val="0F172A"/>
                  </a:solidFill>
                  <a:latin typeface="Arimo"/>
                  <a:ea typeface="Arimo"/>
                  <a:cs typeface="Arimo"/>
                  <a:sym typeface="Arimo"/>
                </a:endParaRPr>
              </a:p>
            </p:txBody>
          </p:sp>
        </p:grpSp>
        <p:grpSp>
          <p:nvGrpSpPr>
            <p:cNvPr id="110" name="Google Shape;110;p15"/>
            <p:cNvGrpSpPr/>
            <p:nvPr/>
          </p:nvGrpSpPr>
          <p:grpSpPr>
            <a:xfrm>
              <a:off x="4381500" y="2667000"/>
              <a:ext cx="7048500" cy="952500"/>
              <a:chOff x="4381500" y="2667000"/>
              <a:chExt cx="7048500" cy="952500"/>
            </a:xfrm>
          </p:grpSpPr>
          <p:sp>
            <p:nvSpPr>
              <p:cNvPr id="111" name="Google Shape;111;p15"/>
              <p:cNvSpPr/>
              <p:nvPr/>
            </p:nvSpPr>
            <p:spPr>
              <a:xfrm>
                <a:off x="4381500" y="2667000"/>
                <a:ext cx="70485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4572000" y="2946019"/>
                <a:ext cx="47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3B82F6"/>
                    </a:solidFill>
                    <a:latin typeface="Material Icons"/>
                    <a:ea typeface="Material Icons"/>
                    <a:cs typeface="Material Icons"/>
                    <a:sym typeface="Material Icons"/>
                  </a:rPr>
                  <a:t>school</a:t>
                </a:r>
                <a:endParaRPr sz="2800">
                  <a:solidFill>
                    <a:srgbClr val="3B82F6"/>
                  </a:solidFill>
                  <a:latin typeface="Material Icons"/>
                  <a:ea typeface="Material Icons"/>
                  <a:cs typeface="Material Icons"/>
                  <a:sym typeface="Material Icons"/>
                </a:endParaRPr>
              </a:p>
            </p:txBody>
          </p:sp>
          <p:sp>
            <p:nvSpPr>
              <p:cNvPr id="113" name="Google Shape;113;p15"/>
              <p:cNvSpPr txBox="1"/>
              <p:nvPr/>
            </p:nvSpPr>
            <p:spPr>
              <a:xfrm>
                <a:off x="5191125" y="2809875"/>
                <a:ext cx="60483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64748B"/>
                    </a:solidFill>
                    <a:latin typeface="Arimo"/>
                    <a:ea typeface="Arimo"/>
                    <a:cs typeface="Arimo"/>
                    <a:sym typeface="Arimo"/>
                  </a:rPr>
                  <a:t>Degree</a:t>
                </a:r>
                <a:endParaRPr b="0" sz="1400">
                  <a:solidFill>
                    <a:srgbClr val="64748B"/>
                  </a:solidFill>
                  <a:latin typeface="Arimo"/>
                  <a:ea typeface="Arimo"/>
                  <a:cs typeface="Arimo"/>
                  <a:sym typeface="Arimo"/>
                </a:endParaRPr>
              </a:p>
              <a:p>
                <a:pPr indent="0" lvl="0" marL="0" rtl="0" algn="l">
                  <a:spcBef>
                    <a:spcPts val="0"/>
                  </a:spcBef>
                  <a:spcAft>
                    <a:spcPts val="0"/>
                  </a:spcAft>
                  <a:buNone/>
                </a:pPr>
                <a:r>
                  <a:rPr b="1" lang="en-US" sz="1800">
                    <a:solidFill>
                      <a:srgbClr val="0F172A"/>
                    </a:solidFill>
                    <a:latin typeface="Arimo"/>
                    <a:ea typeface="Arimo"/>
                    <a:cs typeface="Arimo"/>
                    <a:sym typeface="Arimo"/>
                  </a:rPr>
                  <a:t>B.Sc. in Computer Science</a:t>
                </a:r>
                <a:endParaRPr b="1" sz="1800">
                  <a:solidFill>
                    <a:srgbClr val="0F172A"/>
                  </a:solidFill>
                  <a:latin typeface="Arimo"/>
                  <a:ea typeface="Arimo"/>
                  <a:cs typeface="Arimo"/>
                  <a:sym typeface="Arimo"/>
                </a:endParaRPr>
              </a:p>
            </p:txBody>
          </p:sp>
        </p:grpSp>
        <p:grpSp>
          <p:nvGrpSpPr>
            <p:cNvPr id="114" name="Google Shape;114;p15"/>
            <p:cNvGrpSpPr/>
            <p:nvPr/>
          </p:nvGrpSpPr>
          <p:grpSpPr>
            <a:xfrm>
              <a:off x="4381500" y="3810000"/>
              <a:ext cx="7048500" cy="2286000"/>
              <a:chOff x="4381500" y="3810000"/>
              <a:chExt cx="7048500" cy="2286000"/>
            </a:xfrm>
          </p:grpSpPr>
          <p:sp>
            <p:nvSpPr>
              <p:cNvPr id="115" name="Google Shape;115;p15"/>
              <p:cNvSpPr/>
              <p:nvPr/>
            </p:nvSpPr>
            <p:spPr>
              <a:xfrm>
                <a:off x="4381500" y="3810000"/>
                <a:ext cx="70485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txBox="1"/>
              <p:nvPr/>
            </p:nvSpPr>
            <p:spPr>
              <a:xfrm>
                <a:off x="4572000" y="4089019"/>
                <a:ext cx="47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3B82F6"/>
                    </a:solidFill>
                    <a:latin typeface="Material Icons"/>
                    <a:ea typeface="Material Icons"/>
                    <a:cs typeface="Material Icons"/>
                    <a:sym typeface="Material Icons"/>
                  </a:rPr>
                  <a:t>edit_note</a:t>
                </a:r>
                <a:endParaRPr sz="2800">
                  <a:solidFill>
                    <a:srgbClr val="3B82F6"/>
                  </a:solidFill>
                  <a:latin typeface="Material Icons"/>
                  <a:ea typeface="Material Icons"/>
                  <a:cs typeface="Material Icons"/>
                  <a:sym typeface="Material Icons"/>
                </a:endParaRPr>
              </a:p>
            </p:txBody>
          </p:sp>
          <p:sp>
            <p:nvSpPr>
              <p:cNvPr id="117" name="Google Shape;117;p15"/>
              <p:cNvSpPr txBox="1"/>
              <p:nvPr/>
            </p:nvSpPr>
            <p:spPr>
              <a:xfrm>
                <a:off x="5191125" y="3952875"/>
                <a:ext cx="5857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64748B"/>
                    </a:solidFill>
                    <a:latin typeface="Arimo"/>
                    <a:ea typeface="Arimo"/>
                    <a:cs typeface="Arimo"/>
                    <a:sym typeface="Arimo"/>
                  </a:rPr>
                  <a:t>Personal Note</a:t>
                </a:r>
                <a:endParaRPr b="0" sz="1400">
                  <a:solidFill>
                    <a:srgbClr val="64748B"/>
                  </a:solidFill>
                  <a:latin typeface="Arimo"/>
                  <a:ea typeface="Arimo"/>
                  <a:cs typeface="Arimo"/>
                  <a:sym typeface="Arimo"/>
                </a:endParaRPr>
              </a:p>
              <a:p>
                <a:pPr indent="0" lvl="0" marL="0" rtl="0" algn="l">
                  <a:spcBef>
                    <a:spcPts val="750"/>
                  </a:spcBef>
                  <a:spcAft>
                    <a:spcPts val="0"/>
                  </a:spcAft>
                  <a:buNone/>
                </a:pPr>
                <a:r>
                  <a:rPr b="0" lang="en-US" sz="1600">
                    <a:solidFill>
                      <a:srgbClr val="334155"/>
                    </a:solidFill>
                    <a:latin typeface="Arimo"/>
                    <a:ea typeface="Arimo"/>
                    <a:cs typeface="Arimo"/>
                    <a:sym typeface="Arimo"/>
                  </a:rPr>
                  <a:t>Passionate about programming, system architecture, and using AI to solve complex problems efficiently.</a:t>
                </a:r>
                <a:endParaRPr b="0" sz="1600">
                  <a:solidFill>
                    <a:srgbClr val="334155"/>
                  </a:solidFill>
                  <a:latin typeface="Arimo"/>
                  <a:ea typeface="Arimo"/>
                  <a:cs typeface="Arimo"/>
                  <a:sym typeface="Arimo"/>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grpSp>
        <p:nvGrpSpPr>
          <p:cNvPr id="122" name="Google Shape;122;p16"/>
          <p:cNvGrpSpPr/>
          <p:nvPr/>
        </p:nvGrpSpPr>
        <p:grpSpPr>
          <a:xfrm>
            <a:off x="571500" y="476250"/>
            <a:ext cx="11049000" cy="880950"/>
            <a:chOff x="571500" y="476250"/>
            <a:chExt cx="11049000" cy="880950"/>
          </a:xfrm>
        </p:grpSpPr>
        <p:sp>
          <p:nvSpPr>
            <p:cNvPr id="123" name="Google Shape;123;p16"/>
            <p:cNvSpPr txBox="1"/>
            <p:nvPr/>
          </p:nvSpPr>
          <p:spPr>
            <a:xfrm>
              <a:off x="571500" y="476250"/>
              <a:ext cx="11049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100">
                  <a:solidFill>
                    <a:srgbClr val="0F172A"/>
                  </a:solidFill>
                  <a:latin typeface="Azeret Mono"/>
                  <a:ea typeface="Azeret Mono"/>
                  <a:cs typeface="Azeret Mono"/>
                  <a:sym typeface="Azeret Mono"/>
                </a:rPr>
                <a:t>John's Journey: The Friction of Onboarding</a:t>
              </a:r>
              <a:endParaRPr b="1" sz="3100">
                <a:solidFill>
                  <a:srgbClr val="0F172A"/>
                </a:solidFill>
                <a:latin typeface="Azeret Mono"/>
                <a:ea typeface="Azeret Mono"/>
                <a:cs typeface="Azeret Mono"/>
                <a:sym typeface="Azeret Mono"/>
              </a:endParaRPr>
            </a:p>
          </p:txBody>
        </p:sp>
        <p:sp>
          <p:nvSpPr>
            <p:cNvPr id="124" name="Google Shape;124;p16"/>
            <p:cNvSpPr/>
            <p:nvPr/>
          </p:nvSpPr>
          <p:spPr>
            <a:xfrm>
              <a:off x="571500" y="1333500"/>
              <a:ext cx="11049000" cy="237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5" name="Google Shape;125;p16"/>
          <p:cNvGrpSpPr/>
          <p:nvPr/>
        </p:nvGrpSpPr>
        <p:grpSpPr>
          <a:xfrm>
            <a:off x="504825" y="1838325"/>
            <a:ext cx="3181200" cy="3181200"/>
            <a:chOff x="504825" y="1838325"/>
            <a:chExt cx="3181200" cy="3181200"/>
          </a:xfrm>
        </p:grpSpPr>
        <p:pic>
          <p:nvPicPr>
            <p:cNvPr descr="A professional studio headshot of a friendly young male office worker, &quot;John&quot;, looking slightly frustrated but hopeful, wearing a corporate casual shirt, soft office background, high quality." id="126" name="Google Shape;126;p16"/>
            <p:cNvPicPr preferRelativeResize="0"/>
            <p:nvPr/>
          </p:nvPicPr>
          <p:blipFill rotWithShape="1">
            <a:blip r:embed="rId4">
              <a:alphaModFix/>
            </a:blip>
            <a:srcRect b="0" l="0" r="0" t="0"/>
            <a:stretch/>
          </p:blipFill>
          <p:spPr>
            <a:xfrm>
              <a:off x="571500" y="1905000"/>
              <a:ext cx="3048000" cy="3048000"/>
            </a:xfrm>
            <a:prstGeom prst="ellipse">
              <a:avLst/>
            </a:prstGeom>
            <a:noFill/>
            <a:ln>
              <a:noFill/>
            </a:ln>
          </p:spPr>
        </p:pic>
        <p:pic>
          <p:nvPicPr>
            <p:cNvPr id="127" name="Google Shape;127;p16"/>
            <p:cNvPicPr preferRelativeResize="0"/>
            <p:nvPr/>
          </p:nvPicPr>
          <p:blipFill rotWithShape="1">
            <a:blip r:embed="rId5">
              <a:alphaModFix/>
            </a:blip>
            <a:srcRect b="0" l="0" r="0" t="0"/>
            <a:stretch/>
          </p:blipFill>
          <p:spPr>
            <a:xfrm>
              <a:off x="504825" y="1838325"/>
              <a:ext cx="3181200" cy="3181200"/>
            </a:xfrm>
            <a:prstGeom prst="rect">
              <a:avLst/>
            </a:prstGeom>
            <a:noFill/>
            <a:ln>
              <a:noFill/>
            </a:ln>
          </p:spPr>
        </p:pic>
      </p:grpSp>
      <p:grpSp>
        <p:nvGrpSpPr>
          <p:cNvPr id="128" name="Google Shape;128;p16"/>
          <p:cNvGrpSpPr/>
          <p:nvPr/>
        </p:nvGrpSpPr>
        <p:grpSpPr>
          <a:xfrm>
            <a:off x="4191000" y="1714500"/>
            <a:ext cx="7429500" cy="4000500"/>
            <a:chOff x="4191000" y="1714500"/>
            <a:chExt cx="7429500" cy="4000500"/>
          </a:xfrm>
        </p:grpSpPr>
        <p:sp>
          <p:nvSpPr>
            <p:cNvPr id="129" name="Google Shape;129;p16"/>
            <p:cNvSpPr/>
            <p:nvPr/>
          </p:nvSpPr>
          <p:spPr>
            <a:xfrm>
              <a:off x="4191000" y="1714500"/>
              <a:ext cx="7429500" cy="4000500"/>
            </a:xfrm>
            <a:prstGeom prst="roundRect">
              <a:avLst>
                <a:gd fmla="val 476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p:nvPr/>
          </p:nvSpPr>
          <p:spPr>
            <a:xfrm>
              <a:off x="4191000" y="1714500"/>
              <a:ext cx="7429500" cy="114300"/>
            </a:xfrm>
            <a:prstGeom prst="roundRect">
              <a:avLst>
                <a:gd fmla="val 50000" name="adj"/>
              </a:avLst>
            </a:prstGeom>
            <a:solidFill>
              <a:srgbClr val="6366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txBox="1"/>
            <p:nvPr/>
          </p:nvSpPr>
          <p:spPr>
            <a:xfrm>
              <a:off x="4572000" y="2095500"/>
              <a:ext cx="6667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40">
                  <a:solidFill>
                    <a:srgbClr val="6366F1"/>
                  </a:solidFill>
                  <a:latin typeface="Arimo"/>
                  <a:ea typeface="Arimo"/>
                  <a:cs typeface="Arimo"/>
                  <a:sym typeface="Arimo"/>
                </a:rPr>
                <a:t>The Story of Day One</a:t>
              </a:r>
              <a:endParaRPr sz="1260">
                <a:solidFill>
                  <a:srgbClr val="334155"/>
                </a:solidFill>
                <a:latin typeface="Arimo"/>
                <a:ea typeface="Arimo"/>
                <a:cs typeface="Arimo"/>
                <a:sym typeface="Arimo"/>
              </a:endParaRPr>
            </a:p>
            <a:p>
              <a:pPr indent="0" lvl="0" marL="0" rtl="0" algn="l">
                <a:spcBef>
                  <a:spcPts val="1500"/>
                </a:spcBef>
                <a:spcAft>
                  <a:spcPts val="0"/>
                </a:spcAft>
                <a:buNone/>
              </a:pPr>
              <a:r>
                <a:rPr lang="en-US" sz="1260">
                  <a:solidFill>
                    <a:srgbClr val="334155"/>
                  </a:solidFill>
                  <a:latin typeface="Arimo"/>
                  <a:ea typeface="Arimo"/>
                  <a:cs typeface="Arimo"/>
                  <a:sym typeface="Arimo"/>
                </a:rPr>
                <a:t>Meet </a:t>
              </a:r>
              <a:r>
                <a:rPr b="1" lang="en-US" sz="1260">
                  <a:solidFill>
                    <a:srgbClr val="0F172A"/>
                  </a:solidFill>
                  <a:latin typeface="Arimo"/>
                  <a:ea typeface="Arimo"/>
                  <a:cs typeface="Arimo"/>
                  <a:sym typeface="Arimo"/>
                </a:rPr>
                <a:t>John</a:t>
              </a:r>
              <a:r>
                <a:rPr lang="en-US" sz="1260">
                  <a:solidFill>
                    <a:srgbClr val="334155"/>
                  </a:solidFill>
                  <a:latin typeface="Arimo"/>
                  <a:ea typeface="Arimo"/>
                  <a:cs typeface="Arimo"/>
                  <a:sym typeface="Arimo"/>
                </a:rPr>
                <a:t>, a talented new hire at TechCorp. Instead of diving into code, his first week was a battle against silence and bureaucracy.</a:t>
              </a:r>
              <a:endParaRPr sz="1260">
                <a:solidFill>
                  <a:srgbClr val="334155"/>
                </a:solidFill>
                <a:latin typeface="Arimo"/>
                <a:ea typeface="Arimo"/>
                <a:cs typeface="Arimo"/>
                <a:sym typeface="Arimo"/>
              </a:endParaRPr>
            </a:p>
            <a:p>
              <a:pPr indent="0" lvl="0" marL="0" rtl="0" algn="l">
                <a:spcBef>
                  <a:spcPts val="1125"/>
                </a:spcBef>
                <a:spcAft>
                  <a:spcPts val="0"/>
                </a:spcAft>
                <a:buNone/>
              </a:pPr>
              <a:r>
                <a:rPr lang="en-US" sz="1260">
                  <a:solidFill>
                    <a:srgbClr val="334155"/>
                  </a:solidFill>
                  <a:latin typeface="Arimo"/>
                  <a:ea typeface="Arimo"/>
                  <a:cs typeface="Arimo"/>
                  <a:sym typeface="Arimo"/>
                </a:rPr>
                <a:t>He was buried in massive PDF manuals, waiting </a:t>
              </a:r>
              <a:r>
                <a:rPr b="1" lang="en-US" sz="1260">
                  <a:solidFill>
                    <a:srgbClr val="EF4444"/>
                  </a:solidFill>
                  <a:latin typeface="Arimo"/>
                  <a:ea typeface="Arimo"/>
                  <a:cs typeface="Arimo"/>
                  <a:sym typeface="Arimo"/>
                </a:rPr>
                <a:t>hours</a:t>
              </a:r>
              <a:r>
                <a:rPr lang="en-US" sz="1260">
                  <a:solidFill>
                    <a:srgbClr val="334155"/>
                  </a:solidFill>
                  <a:latin typeface="Arimo"/>
                  <a:ea typeface="Arimo"/>
                  <a:cs typeface="Arimo"/>
                  <a:sym typeface="Arimo"/>
                </a:rPr>
                <a:t> for HR email replies just to perform basic tasks like booking a desk or finding the IT helpdesk.</a:t>
              </a:r>
              <a:endParaRPr sz="1260">
                <a:solidFill>
                  <a:srgbClr val="334155"/>
                </a:solidFill>
                <a:latin typeface="Arimo"/>
                <a:ea typeface="Arimo"/>
                <a:cs typeface="Arimo"/>
                <a:sym typeface="Arimo"/>
              </a:endParaRPr>
            </a:p>
            <a:p>
              <a:pPr indent="0" lvl="0" marL="0" rtl="0" algn="l">
                <a:spcBef>
                  <a:spcPts val="1500"/>
                </a:spcBef>
                <a:spcAft>
                  <a:spcPts val="0"/>
                </a:spcAft>
                <a:buNone/>
              </a:pPr>
              <a:r>
                <a:rPr b="1" lang="en-US" sz="1260">
                  <a:solidFill>
                    <a:srgbClr val="6366F1"/>
                  </a:solidFill>
                  <a:latin typeface="Arimo"/>
                  <a:ea typeface="Arimo"/>
                  <a:cs typeface="Arimo"/>
                  <a:sym typeface="Arimo"/>
                </a:rPr>
                <a:t>Key Pain Points:</a:t>
              </a:r>
              <a:endParaRPr sz="1260">
                <a:solidFill>
                  <a:srgbClr val="334155"/>
                </a:solidFill>
                <a:latin typeface="Arimo"/>
                <a:ea typeface="Arimo"/>
                <a:cs typeface="Arimo"/>
                <a:sym typeface="Arimo"/>
              </a:endParaRPr>
            </a:p>
            <a:p>
              <a:pPr indent="-308610" lvl="0" marL="457200" rtl="0" algn="l">
                <a:spcBef>
                  <a:spcPts val="750"/>
                </a:spcBef>
                <a:spcAft>
                  <a:spcPts val="0"/>
                </a:spcAft>
                <a:buClr>
                  <a:srgbClr val="334155"/>
                </a:buClr>
                <a:buSzPts val="1260"/>
                <a:buFont typeface="Arimo"/>
                <a:buChar char="●"/>
              </a:pPr>
              <a:r>
                <a:rPr b="1" lang="en-US" sz="1260">
                  <a:solidFill>
                    <a:srgbClr val="334155"/>
                  </a:solidFill>
                  <a:latin typeface="Arimo"/>
                  <a:ea typeface="Arimo"/>
                  <a:cs typeface="Arimo"/>
                  <a:sym typeface="Arimo"/>
                </a:rPr>
                <a:t>EventStream Delays:</a:t>
              </a:r>
              <a:r>
                <a:rPr lang="en-US" sz="1260">
                  <a:solidFill>
                    <a:srgbClr val="334155"/>
                  </a:solidFill>
                  <a:latin typeface="Arimo"/>
                  <a:ea typeface="Arimo"/>
                  <a:cs typeface="Arimo"/>
                  <a:sym typeface="Arimo"/>
                </a:rPr>
                <a:t> Technical lags meant answers took minutes, not seconds.</a:t>
              </a:r>
              <a:endParaRPr sz="1260">
                <a:solidFill>
                  <a:srgbClr val="334155"/>
                </a:solidFill>
                <a:latin typeface="Arimo"/>
                <a:ea typeface="Arimo"/>
                <a:cs typeface="Arimo"/>
                <a:sym typeface="Arimo"/>
              </a:endParaRPr>
            </a:p>
            <a:p>
              <a:pPr indent="-308610" lvl="0" marL="457200" rtl="0" algn="l">
                <a:spcBef>
                  <a:spcPts val="900"/>
                </a:spcBef>
                <a:spcAft>
                  <a:spcPts val="0"/>
                </a:spcAft>
                <a:buClr>
                  <a:srgbClr val="334155"/>
                </a:buClr>
                <a:buSzPts val="1260"/>
                <a:buFont typeface="Arimo"/>
                <a:buChar char="●"/>
              </a:pPr>
              <a:r>
                <a:rPr b="1" lang="en-US" sz="1260">
                  <a:solidFill>
                    <a:srgbClr val="334155"/>
                  </a:solidFill>
                  <a:latin typeface="Arimo"/>
                  <a:ea typeface="Arimo"/>
                  <a:cs typeface="Arimo"/>
                  <a:sym typeface="Arimo"/>
                </a:rPr>
                <a:t>Tool Friction:</a:t>
              </a:r>
              <a:r>
                <a:rPr lang="en-US" sz="1260">
                  <a:solidFill>
                    <a:srgbClr val="334155"/>
                  </a:solidFill>
                  <a:latin typeface="Arimo"/>
                  <a:ea typeface="Arimo"/>
                  <a:cs typeface="Arimo"/>
                  <a:sym typeface="Arimo"/>
                </a:rPr>
                <a:t> Disconnected systems forced him to re-explain his issue multiple times.</a:t>
              </a:r>
              <a:endParaRPr sz="1260">
                <a:solidFill>
                  <a:srgbClr val="334155"/>
                </a:solidFill>
                <a:latin typeface="Arimo"/>
                <a:ea typeface="Arimo"/>
                <a:cs typeface="Arimo"/>
                <a:sym typeface="Arimo"/>
              </a:endParaRPr>
            </a:p>
            <a:p>
              <a:pPr indent="-308610" lvl="0" marL="457200" rtl="0" algn="l">
                <a:spcBef>
                  <a:spcPts val="900"/>
                </a:spcBef>
                <a:spcAft>
                  <a:spcPts val="0"/>
                </a:spcAft>
                <a:buClr>
                  <a:srgbClr val="334155"/>
                </a:buClr>
                <a:buSzPts val="1260"/>
                <a:buFont typeface="Arimo"/>
                <a:buChar char="●"/>
              </a:pPr>
              <a:r>
                <a:rPr b="1" lang="en-US" sz="1260">
                  <a:solidFill>
                    <a:srgbClr val="334155"/>
                  </a:solidFill>
                  <a:latin typeface="Arimo"/>
                  <a:ea typeface="Arimo"/>
                  <a:cs typeface="Arimo"/>
                  <a:sym typeface="Arimo"/>
                </a:rPr>
                <a:t>Static Overload:</a:t>
              </a:r>
              <a:r>
                <a:rPr lang="en-US" sz="1260">
                  <a:solidFill>
                    <a:srgbClr val="334155"/>
                  </a:solidFill>
                  <a:latin typeface="Arimo"/>
                  <a:ea typeface="Arimo"/>
                  <a:cs typeface="Arimo"/>
                  <a:sym typeface="Arimo"/>
                </a:rPr>
                <a:t> Thousands of pages of documentation made finding one "truth" impossible.</a:t>
              </a:r>
              <a:endParaRPr sz="1260">
                <a:solidFill>
                  <a:srgbClr val="334155"/>
                </a:solidFill>
                <a:latin typeface="Arimo"/>
                <a:ea typeface="Arimo"/>
                <a:cs typeface="Arimo"/>
                <a:sym typeface="Arim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pic>
        <p:nvPicPr>
          <p:cNvPr id="136" name="Google Shape;136;p17"/>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137" name="Google Shape;137;p17"/>
          <p:cNvSpPr txBox="1"/>
          <p:nvPr/>
        </p:nvSpPr>
        <p:spPr>
          <a:xfrm>
            <a:off x="771525" y="428625"/>
            <a:ext cx="10649100" cy="646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200">
                <a:solidFill>
                  <a:srgbClr val="0F172A"/>
                </a:solidFill>
                <a:latin typeface="Azeret Mono"/>
                <a:ea typeface="Azeret Mono"/>
                <a:cs typeface="Azeret Mono"/>
                <a:sym typeface="Azeret Mono"/>
              </a:rPr>
              <a:t>Project Overview</a:t>
            </a:r>
            <a:endParaRPr b="1" sz="4200">
              <a:solidFill>
                <a:srgbClr val="0F172A"/>
              </a:solidFill>
              <a:latin typeface="Azeret Mono"/>
              <a:ea typeface="Azeret Mono"/>
              <a:cs typeface="Azeret Mono"/>
              <a:sym typeface="Azeret Mono"/>
            </a:endParaRPr>
          </a:p>
        </p:txBody>
      </p:sp>
      <p:sp>
        <p:nvSpPr>
          <p:cNvPr id="138" name="Google Shape;138;p17"/>
          <p:cNvSpPr/>
          <p:nvPr/>
        </p:nvSpPr>
        <p:spPr>
          <a:xfrm>
            <a:off x="771525" y="1095375"/>
            <a:ext cx="106491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9" name="Google Shape;139;p17"/>
          <p:cNvGrpSpPr/>
          <p:nvPr/>
        </p:nvGrpSpPr>
        <p:grpSpPr>
          <a:xfrm>
            <a:off x="771525" y="1428750"/>
            <a:ext cx="2476500" cy="4572000"/>
            <a:chOff x="771525" y="1428750"/>
            <a:chExt cx="2476500" cy="4572000"/>
          </a:xfrm>
        </p:grpSpPr>
        <p:sp>
          <p:nvSpPr>
            <p:cNvPr id="140" name="Google Shape;140;p17"/>
            <p:cNvSpPr/>
            <p:nvPr/>
          </p:nvSpPr>
          <p:spPr>
            <a:xfrm>
              <a:off x="771525" y="1428750"/>
              <a:ext cx="2476500" cy="45720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p:nvPr/>
          </p:nvSpPr>
          <p:spPr>
            <a:xfrm>
              <a:off x="771525" y="1428750"/>
              <a:ext cx="2476500" cy="762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7"/>
            <p:cNvSpPr txBox="1"/>
            <p:nvPr/>
          </p:nvSpPr>
          <p:spPr>
            <a:xfrm>
              <a:off x="1000125" y="17553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F59E0B"/>
                  </a:solidFill>
                  <a:latin typeface="Material Icons"/>
                  <a:ea typeface="Material Icons"/>
                  <a:cs typeface="Material Icons"/>
                  <a:sym typeface="Material Icons"/>
                </a:rPr>
                <a:t>report_problem</a:t>
              </a:r>
              <a:endParaRPr sz="2380">
                <a:solidFill>
                  <a:srgbClr val="F59E0B"/>
                </a:solidFill>
                <a:latin typeface="Material Icons"/>
                <a:ea typeface="Material Icons"/>
                <a:cs typeface="Material Icons"/>
                <a:sym typeface="Material Icons"/>
              </a:endParaRPr>
            </a:p>
          </p:txBody>
        </p:sp>
        <p:sp>
          <p:nvSpPr>
            <p:cNvPr id="143" name="Google Shape;143;p17"/>
            <p:cNvSpPr txBox="1"/>
            <p:nvPr/>
          </p:nvSpPr>
          <p:spPr>
            <a:xfrm>
              <a:off x="1000125" y="2238375"/>
              <a:ext cx="20193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F172A"/>
                  </a:solidFill>
                  <a:latin typeface="Azeret Mono"/>
                  <a:ea typeface="Azeret Mono"/>
                  <a:cs typeface="Azeret Mono"/>
                  <a:sym typeface="Azeret Mono"/>
                </a:rPr>
                <a:t>The Problem</a:t>
              </a:r>
              <a:endParaRPr b="1" sz="2000">
                <a:solidFill>
                  <a:srgbClr val="0F172A"/>
                </a:solidFill>
                <a:latin typeface="Azeret Mono"/>
                <a:ea typeface="Azeret Mono"/>
                <a:cs typeface="Azeret Mono"/>
                <a:sym typeface="Azeret Mono"/>
              </a:endParaRPr>
            </a:p>
          </p:txBody>
        </p:sp>
        <p:sp>
          <p:nvSpPr>
            <p:cNvPr id="144" name="Google Shape;144;p17"/>
            <p:cNvSpPr txBox="1"/>
            <p:nvPr/>
          </p:nvSpPr>
          <p:spPr>
            <a:xfrm>
              <a:off x="1000125" y="2762250"/>
              <a:ext cx="20193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75569"/>
                  </a:solidFill>
                  <a:latin typeface="Arimo"/>
                  <a:ea typeface="Arimo"/>
                  <a:cs typeface="Arimo"/>
                  <a:sym typeface="Arimo"/>
                </a:rPr>
                <a:t>New employees spend valuable time searching through long documents, emailing HR, or waiting for IT — just to answer simple onboarding questions.</a:t>
              </a:r>
              <a:endParaRPr b="0" sz="1800">
                <a:solidFill>
                  <a:srgbClr val="475569"/>
                </a:solidFill>
                <a:latin typeface="Arimo"/>
                <a:ea typeface="Arimo"/>
                <a:cs typeface="Arimo"/>
                <a:sym typeface="Arimo"/>
              </a:endParaRPr>
            </a:p>
          </p:txBody>
        </p:sp>
      </p:grpSp>
      <p:grpSp>
        <p:nvGrpSpPr>
          <p:cNvPr id="145" name="Google Shape;145;p17"/>
          <p:cNvGrpSpPr/>
          <p:nvPr/>
        </p:nvGrpSpPr>
        <p:grpSpPr>
          <a:xfrm>
            <a:off x="3495675" y="1428750"/>
            <a:ext cx="2476500" cy="4572000"/>
            <a:chOff x="3495675" y="1428750"/>
            <a:chExt cx="2476500" cy="4572000"/>
          </a:xfrm>
        </p:grpSpPr>
        <p:sp>
          <p:nvSpPr>
            <p:cNvPr id="146" name="Google Shape;146;p17"/>
            <p:cNvSpPr/>
            <p:nvPr/>
          </p:nvSpPr>
          <p:spPr>
            <a:xfrm>
              <a:off x="3495675" y="1428750"/>
              <a:ext cx="2476500" cy="45720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7"/>
            <p:cNvSpPr/>
            <p:nvPr/>
          </p:nvSpPr>
          <p:spPr>
            <a:xfrm>
              <a:off x="3495675" y="1428750"/>
              <a:ext cx="2476500" cy="76200"/>
            </a:xfrm>
            <a:prstGeom prst="roundRect">
              <a:avLst>
                <a:gd fmla="val 5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txBox="1"/>
            <p:nvPr/>
          </p:nvSpPr>
          <p:spPr>
            <a:xfrm>
              <a:off x="3724275" y="17553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22C55E"/>
                  </a:solidFill>
                  <a:latin typeface="Material Icons"/>
                  <a:ea typeface="Material Icons"/>
                  <a:cs typeface="Material Icons"/>
                  <a:sym typeface="Material Icons"/>
                </a:rPr>
                <a:t>groups</a:t>
              </a:r>
              <a:endParaRPr sz="2380">
                <a:solidFill>
                  <a:srgbClr val="22C55E"/>
                </a:solidFill>
                <a:latin typeface="Material Icons"/>
                <a:ea typeface="Material Icons"/>
                <a:cs typeface="Material Icons"/>
                <a:sym typeface="Material Icons"/>
              </a:endParaRPr>
            </a:p>
          </p:txBody>
        </p:sp>
        <p:sp>
          <p:nvSpPr>
            <p:cNvPr id="149" name="Google Shape;149;p17"/>
            <p:cNvSpPr txBox="1"/>
            <p:nvPr/>
          </p:nvSpPr>
          <p:spPr>
            <a:xfrm>
              <a:off x="3724275" y="2238375"/>
              <a:ext cx="20193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F172A"/>
                  </a:solidFill>
                  <a:latin typeface="Azeret Mono"/>
                  <a:ea typeface="Azeret Mono"/>
                  <a:cs typeface="Azeret Mono"/>
                  <a:sym typeface="Azeret Mono"/>
                </a:rPr>
                <a:t>The Users</a:t>
              </a:r>
              <a:endParaRPr b="1" sz="2000">
                <a:solidFill>
                  <a:srgbClr val="0F172A"/>
                </a:solidFill>
                <a:latin typeface="Azeret Mono"/>
                <a:ea typeface="Azeret Mono"/>
                <a:cs typeface="Azeret Mono"/>
                <a:sym typeface="Azeret Mono"/>
              </a:endParaRPr>
            </a:p>
          </p:txBody>
        </p:sp>
        <p:sp>
          <p:nvSpPr>
            <p:cNvPr id="150" name="Google Shape;150;p17"/>
            <p:cNvSpPr txBox="1"/>
            <p:nvPr/>
          </p:nvSpPr>
          <p:spPr>
            <a:xfrm>
              <a:off x="3724275" y="2762250"/>
              <a:ext cx="20193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75569"/>
                  </a:solidFill>
                  <a:latin typeface="Arimo"/>
                  <a:ea typeface="Arimo"/>
                  <a:cs typeface="Arimo"/>
                  <a:sym typeface="Arimo"/>
                </a:rPr>
                <a:t>New hires at TechCorp on their first days — needing instant, reliable answers about HR, IT setup, and company culture.</a:t>
              </a:r>
              <a:endParaRPr b="0" sz="1800">
                <a:solidFill>
                  <a:srgbClr val="475569"/>
                </a:solidFill>
                <a:latin typeface="Arimo"/>
                <a:ea typeface="Arimo"/>
                <a:cs typeface="Arimo"/>
                <a:sym typeface="Arimo"/>
              </a:endParaRPr>
            </a:p>
          </p:txBody>
        </p:sp>
      </p:grpSp>
      <p:grpSp>
        <p:nvGrpSpPr>
          <p:cNvPr id="151" name="Google Shape;151;p17"/>
          <p:cNvGrpSpPr/>
          <p:nvPr/>
        </p:nvGrpSpPr>
        <p:grpSpPr>
          <a:xfrm>
            <a:off x="6219825" y="1428750"/>
            <a:ext cx="2476500" cy="4572000"/>
            <a:chOff x="6219825" y="1428750"/>
            <a:chExt cx="2476500" cy="4572000"/>
          </a:xfrm>
        </p:grpSpPr>
        <p:sp>
          <p:nvSpPr>
            <p:cNvPr id="152" name="Google Shape;152;p17"/>
            <p:cNvSpPr/>
            <p:nvPr/>
          </p:nvSpPr>
          <p:spPr>
            <a:xfrm>
              <a:off x="6219825" y="1428750"/>
              <a:ext cx="2476500" cy="45720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7"/>
            <p:cNvSpPr/>
            <p:nvPr/>
          </p:nvSpPr>
          <p:spPr>
            <a:xfrm>
              <a:off x="6219825" y="1428750"/>
              <a:ext cx="2476500" cy="76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txBox="1"/>
            <p:nvPr/>
          </p:nvSpPr>
          <p:spPr>
            <a:xfrm>
              <a:off x="6448425" y="17553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3B82F6"/>
                  </a:solidFill>
                  <a:latin typeface="Material Icons"/>
                  <a:ea typeface="Material Icons"/>
                  <a:cs typeface="Material Icons"/>
                  <a:sym typeface="Material Icons"/>
                </a:rPr>
                <a:t>smart_toy</a:t>
              </a:r>
              <a:endParaRPr sz="2380">
                <a:solidFill>
                  <a:srgbClr val="3B82F6"/>
                </a:solidFill>
                <a:latin typeface="Material Icons"/>
                <a:ea typeface="Material Icons"/>
                <a:cs typeface="Material Icons"/>
                <a:sym typeface="Material Icons"/>
              </a:endParaRPr>
            </a:p>
          </p:txBody>
        </p:sp>
        <p:sp>
          <p:nvSpPr>
            <p:cNvPr id="155" name="Google Shape;155;p17"/>
            <p:cNvSpPr txBox="1"/>
            <p:nvPr/>
          </p:nvSpPr>
          <p:spPr>
            <a:xfrm>
              <a:off x="6448425" y="2238375"/>
              <a:ext cx="20193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F172A"/>
                  </a:solidFill>
                  <a:latin typeface="Azeret Mono"/>
                  <a:ea typeface="Azeret Mono"/>
                  <a:cs typeface="Azeret Mono"/>
                  <a:sym typeface="Azeret Mono"/>
                </a:rPr>
                <a:t>The Solution</a:t>
              </a:r>
              <a:endParaRPr b="1" sz="2000">
                <a:solidFill>
                  <a:srgbClr val="0F172A"/>
                </a:solidFill>
                <a:latin typeface="Azeret Mono"/>
                <a:ea typeface="Azeret Mono"/>
                <a:cs typeface="Azeret Mono"/>
                <a:sym typeface="Azeret Mono"/>
              </a:endParaRPr>
            </a:p>
          </p:txBody>
        </p:sp>
        <p:sp>
          <p:nvSpPr>
            <p:cNvPr id="156" name="Google Shape;156;p17"/>
            <p:cNvSpPr txBox="1"/>
            <p:nvPr/>
          </p:nvSpPr>
          <p:spPr>
            <a:xfrm>
              <a:off x="6448425" y="2762250"/>
              <a:ext cx="20193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75569"/>
                  </a:solidFill>
                  <a:latin typeface="Arimo"/>
                  <a:ea typeface="Arimo"/>
                  <a:cs typeface="Arimo"/>
                  <a:sym typeface="Arimo"/>
                </a:rPr>
                <a:t>An AI-powered chat portal that answers any onboarding question instantly, sourced directly from official TechCorp documentation using RAG.</a:t>
              </a:r>
              <a:endParaRPr b="0" sz="1800">
                <a:solidFill>
                  <a:srgbClr val="475569"/>
                </a:solidFill>
                <a:latin typeface="Arimo"/>
                <a:ea typeface="Arimo"/>
                <a:cs typeface="Arimo"/>
                <a:sym typeface="Arimo"/>
              </a:endParaRPr>
            </a:p>
          </p:txBody>
        </p:sp>
      </p:grpSp>
      <p:grpSp>
        <p:nvGrpSpPr>
          <p:cNvPr id="157" name="Google Shape;157;p17"/>
          <p:cNvGrpSpPr/>
          <p:nvPr/>
        </p:nvGrpSpPr>
        <p:grpSpPr>
          <a:xfrm>
            <a:off x="8943975" y="1428750"/>
            <a:ext cx="2476500" cy="4572000"/>
            <a:chOff x="8943975" y="1428750"/>
            <a:chExt cx="2476500" cy="4572000"/>
          </a:xfrm>
        </p:grpSpPr>
        <p:sp>
          <p:nvSpPr>
            <p:cNvPr id="158" name="Google Shape;158;p17"/>
            <p:cNvSpPr/>
            <p:nvPr/>
          </p:nvSpPr>
          <p:spPr>
            <a:xfrm>
              <a:off x="8943975" y="1428750"/>
              <a:ext cx="2476500" cy="45720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p:nvPr/>
          </p:nvSpPr>
          <p:spPr>
            <a:xfrm>
              <a:off x="8943975" y="1428750"/>
              <a:ext cx="2476500" cy="76200"/>
            </a:xfrm>
            <a:prstGeom prst="roundRect">
              <a:avLst>
                <a:gd fmla="val 50000" name="adj"/>
              </a:avLst>
            </a:prstGeom>
            <a:solidFill>
              <a:srgbClr val="EC48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7"/>
            <p:cNvSpPr txBox="1"/>
            <p:nvPr/>
          </p:nvSpPr>
          <p:spPr>
            <a:xfrm>
              <a:off x="9172575" y="17553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EC4899"/>
                  </a:solidFill>
                  <a:latin typeface="Material Icons"/>
                  <a:ea typeface="Material Icons"/>
                  <a:cs typeface="Material Icons"/>
                  <a:sym typeface="Material Icons"/>
                </a:rPr>
                <a:t>auto_awesome</a:t>
              </a:r>
              <a:endParaRPr sz="2380">
                <a:solidFill>
                  <a:srgbClr val="EC4899"/>
                </a:solidFill>
                <a:latin typeface="Material Icons"/>
                <a:ea typeface="Material Icons"/>
                <a:cs typeface="Material Icons"/>
                <a:sym typeface="Material Icons"/>
              </a:endParaRPr>
            </a:p>
          </p:txBody>
        </p:sp>
        <p:sp>
          <p:nvSpPr>
            <p:cNvPr id="161" name="Google Shape;161;p17"/>
            <p:cNvSpPr txBox="1"/>
            <p:nvPr/>
          </p:nvSpPr>
          <p:spPr>
            <a:xfrm>
              <a:off x="9172575" y="2238375"/>
              <a:ext cx="20193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19">
                  <a:solidFill>
                    <a:srgbClr val="0F172A"/>
                  </a:solidFill>
                  <a:latin typeface="Azeret Mono"/>
                  <a:ea typeface="Azeret Mono"/>
                  <a:cs typeface="Azeret Mono"/>
                  <a:sym typeface="Azeret Mono"/>
                </a:rPr>
                <a:t>Why It's Useful</a:t>
              </a:r>
              <a:endParaRPr b="1" sz="1619">
                <a:solidFill>
                  <a:srgbClr val="0F172A"/>
                </a:solidFill>
                <a:latin typeface="Azeret Mono"/>
                <a:ea typeface="Azeret Mono"/>
                <a:cs typeface="Azeret Mono"/>
                <a:sym typeface="Azeret Mono"/>
              </a:endParaRPr>
            </a:p>
          </p:txBody>
        </p:sp>
        <p:sp>
          <p:nvSpPr>
            <p:cNvPr id="162" name="Google Shape;162;p17"/>
            <p:cNvSpPr txBox="1"/>
            <p:nvPr/>
          </p:nvSpPr>
          <p:spPr>
            <a:xfrm>
              <a:off x="9172575" y="2762250"/>
              <a:ext cx="2019300" cy="3048000"/>
            </a:xfrm>
            <a:prstGeom prst="rect">
              <a:avLst/>
            </a:prstGeom>
            <a:solidFill>
              <a:srgbClr val="000000">
                <a:alpha val="0"/>
              </a:srgbClr>
            </a:solidFill>
            <a:ln>
              <a:noFill/>
            </a:ln>
          </p:spPr>
          <p:txBody>
            <a:bodyPr anchorCtr="0" anchor="t" bIns="0" lIns="0" spcFirstLastPara="1" rIns="0" wrap="square" tIns="0">
              <a:noAutofit/>
            </a:bodyPr>
            <a:lstStyle/>
            <a:p>
              <a:pPr indent="-336550" lvl="0" marL="457200" rtl="0" algn="l">
                <a:spcBef>
                  <a:spcPts val="0"/>
                </a:spcBef>
                <a:spcAft>
                  <a:spcPts val="0"/>
                </a:spcAft>
                <a:buClr>
                  <a:srgbClr val="475569"/>
                </a:buClr>
                <a:buSzPts val="1700"/>
                <a:buFont typeface="Arimo"/>
                <a:buChar char="●"/>
              </a:pPr>
              <a:r>
                <a:rPr b="0" lang="en-US" sz="1700">
                  <a:solidFill>
                    <a:srgbClr val="475569"/>
                  </a:solidFill>
                  <a:latin typeface="Arimo"/>
                  <a:ea typeface="Arimo"/>
                  <a:cs typeface="Arimo"/>
                  <a:sym typeface="Arimo"/>
                </a:rPr>
                <a:t>24/7 availability</a:t>
              </a:r>
              <a:endParaRPr b="0" sz="1700">
                <a:solidFill>
                  <a:srgbClr val="475569"/>
                </a:solidFill>
                <a:latin typeface="Arimo"/>
                <a:ea typeface="Arimo"/>
                <a:cs typeface="Arimo"/>
                <a:sym typeface="Arimo"/>
              </a:endParaRPr>
            </a:p>
            <a:p>
              <a:pPr indent="-336550" lvl="0" marL="457200" rtl="0" algn="l">
                <a:spcBef>
                  <a:spcPts val="750"/>
                </a:spcBef>
                <a:spcAft>
                  <a:spcPts val="0"/>
                </a:spcAft>
                <a:buClr>
                  <a:srgbClr val="475569"/>
                </a:buClr>
                <a:buSzPts val="1700"/>
                <a:buFont typeface="Arimo"/>
                <a:buChar char="●"/>
              </a:pPr>
              <a:r>
                <a:rPr b="0" lang="en-US" sz="1700">
                  <a:solidFill>
                    <a:srgbClr val="475569"/>
                  </a:solidFill>
                  <a:latin typeface="Arimo"/>
                  <a:ea typeface="Arimo"/>
                  <a:cs typeface="Arimo"/>
                  <a:sym typeface="Arimo"/>
                </a:rPr>
                <a:t>Accurate answers grounded in real documents</a:t>
              </a:r>
              <a:endParaRPr b="0" sz="1700">
                <a:solidFill>
                  <a:srgbClr val="475569"/>
                </a:solidFill>
                <a:latin typeface="Arimo"/>
                <a:ea typeface="Arimo"/>
                <a:cs typeface="Arimo"/>
                <a:sym typeface="Arimo"/>
              </a:endParaRPr>
            </a:p>
            <a:p>
              <a:pPr indent="-336550" lvl="0" marL="457200" rtl="0" algn="l">
                <a:spcBef>
                  <a:spcPts val="750"/>
                </a:spcBef>
                <a:spcAft>
                  <a:spcPts val="0"/>
                </a:spcAft>
                <a:buClr>
                  <a:srgbClr val="475569"/>
                </a:buClr>
                <a:buSzPts val="1700"/>
                <a:buFont typeface="Arimo"/>
                <a:buChar char="●"/>
              </a:pPr>
              <a:r>
                <a:rPr b="0" lang="en-US" sz="1700">
                  <a:solidFill>
                    <a:srgbClr val="475569"/>
                  </a:solidFill>
                  <a:latin typeface="Arimo"/>
                  <a:ea typeface="Arimo"/>
                  <a:cs typeface="Arimo"/>
                  <a:sym typeface="Arimo"/>
                </a:rPr>
                <a:t>Reduces HR workload</a:t>
              </a:r>
              <a:endParaRPr b="0" sz="1700">
                <a:solidFill>
                  <a:srgbClr val="475569"/>
                </a:solidFill>
                <a:latin typeface="Arimo"/>
                <a:ea typeface="Arimo"/>
                <a:cs typeface="Arimo"/>
                <a:sym typeface="Arimo"/>
              </a:endParaRPr>
            </a:p>
            <a:p>
              <a:pPr indent="-336550" lvl="0" marL="457200" rtl="0" algn="l">
                <a:spcBef>
                  <a:spcPts val="750"/>
                </a:spcBef>
                <a:spcAft>
                  <a:spcPts val="0"/>
                </a:spcAft>
                <a:buClr>
                  <a:srgbClr val="475569"/>
                </a:buClr>
                <a:buSzPts val="1700"/>
                <a:buFont typeface="Arimo"/>
                <a:buChar char="●"/>
              </a:pPr>
              <a:r>
                <a:rPr b="0" lang="en-US" sz="1700">
                  <a:solidFill>
                    <a:srgbClr val="475569"/>
                  </a:solidFill>
                  <a:latin typeface="Arimo"/>
                  <a:ea typeface="Arimo"/>
                  <a:cs typeface="Arimo"/>
                  <a:sym typeface="Arimo"/>
                </a:rPr>
                <a:t>Consistent experience</a:t>
              </a:r>
              <a:endParaRPr b="0" sz="1700">
                <a:solidFill>
                  <a:srgbClr val="475569"/>
                </a:solidFill>
                <a:latin typeface="Arimo"/>
                <a:ea typeface="Arimo"/>
                <a:cs typeface="Arimo"/>
                <a:sym typeface="Arim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grpSp>
        <p:nvGrpSpPr>
          <p:cNvPr id="167" name="Google Shape;167;p18"/>
          <p:cNvGrpSpPr/>
          <p:nvPr/>
        </p:nvGrpSpPr>
        <p:grpSpPr>
          <a:xfrm>
            <a:off x="762000" y="1524000"/>
            <a:ext cx="5143500" cy="4572000"/>
            <a:chOff x="762000" y="1524000"/>
            <a:chExt cx="5143500" cy="4572000"/>
          </a:xfrm>
        </p:grpSpPr>
        <p:sp>
          <p:nvSpPr>
            <p:cNvPr id="168" name="Google Shape;168;p18"/>
            <p:cNvSpPr/>
            <p:nvPr/>
          </p:nvSpPr>
          <p:spPr>
            <a:xfrm>
              <a:off x="762000" y="1524000"/>
              <a:ext cx="51435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8"/>
            <p:cNvSpPr/>
            <p:nvPr/>
          </p:nvSpPr>
          <p:spPr>
            <a:xfrm>
              <a:off x="762000" y="1524000"/>
              <a:ext cx="5143500" cy="571500"/>
            </a:xfrm>
            <a:prstGeom prst="roundRect">
              <a:avLst>
                <a:gd fmla="val 26666"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p:nvPr/>
          </p:nvSpPr>
          <p:spPr>
            <a:xfrm>
              <a:off x="762000" y="1905000"/>
              <a:ext cx="5143500" cy="1905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8"/>
            <p:cNvSpPr txBox="1"/>
            <p:nvPr/>
          </p:nvSpPr>
          <p:spPr>
            <a:xfrm>
              <a:off x="952500" y="1571625"/>
              <a:ext cx="4762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Azeret Mono"/>
                  <a:ea typeface="Azeret Mono"/>
                  <a:cs typeface="Azeret Mono"/>
                  <a:sym typeface="Azeret Mono"/>
                </a:rPr>
                <a:t>Backend &amp; Cloud</a:t>
              </a:r>
              <a:endParaRPr b="1" sz="2000">
                <a:solidFill>
                  <a:srgbClr val="FFFFFF"/>
                </a:solidFill>
                <a:latin typeface="Azeret Mono"/>
                <a:ea typeface="Azeret Mono"/>
                <a:cs typeface="Azeret Mono"/>
                <a:sym typeface="Azeret Mono"/>
              </a:endParaRPr>
            </a:p>
          </p:txBody>
        </p:sp>
        <p:sp>
          <p:nvSpPr>
            <p:cNvPr id="172" name="Google Shape;172;p18"/>
            <p:cNvSpPr txBox="1"/>
            <p:nvPr/>
          </p:nvSpPr>
          <p:spPr>
            <a:xfrm>
              <a:off x="952500" y="2238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2563EB"/>
                  </a:solidFill>
                  <a:latin typeface="Material Icons"/>
                  <a:ea typeface="Material Icons"/>
                  <a:cs typeface="Material Icons"/>
                  <a:sym typeface="Material Icons"/>
                </a:rPr>
                <a:t>code</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Python:</a:t>
              </a:r>
              <a:r>
                <a:rPr lang="en-US" sz="1350">
                  <a:solidFill>
                    <a:srgbClr val="334155"/>
                  </a:solidFill>
                  <a:latin typeface="Arimo"/>
                  <a:ea typeface="Arimo"/>
                  <a:cs typeface="Arimo"/>
                  <a:sym typeface="Arimo"/>
                </a:rPr>
                <a:t> Backend logic, AWS SDK (boto3), EventStream parsing</a:t>
              </a:r>
              <a:endParaRPr sz="1350">
                <a:solidFill>
                  <a:srgbClr val="334155"/>
                </a:solidFill>
                <a:latin typeface="Arimo"/>
                <a:ea typeface="Arimo"/>
                <a:cs typeface="Arimo"/>
                <a:sym typeface="Arimo"/>
              </a:endParaRPr>
            </a:p>
          </p:txBody>
        </p:sp>
        <p:sp>
          <p:nvSpPr>
            <p:cNvPr id="173" name="Google Shape;173;p18"/>
            <p:cNvSpPr txBox="1"/>
            <p:nvPr/>
          </p:nvSpPr>
          <p:spPr>
            <a:xfrm>
              <a:off x="952500" y="3000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2563EB"/>
                  </a:solidFill>
                  <a:latin typeface="Material Icons"/>
                  <a:ea typeface="Material Icons"/>
                  <a:cs typeface="Material Icons"/>
                  <a:sym typeface="Material Icons"/>
                </a:rPr>
                <a:t>api</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Flask:</a:t>
              </a:r>
              <a:r>
                <a:rPr lang="en-US" sz="1350">
                  <a:solidFill>
                    <a:srgbClr val="334155"/>
                  </a:solidFill>
                  <a:latin typeface="Arimo"/>
                  <a:ea typeface="Arimo"/>
                  <a:cs typeface="Arimo"/>
                  <a:sym typeface="Arimo"/>
                </a:rPr>
                <a:t> REST API framework serving the frontend and `/ask` endpoint</a:t>
              </a:r>
              <a:endParaRPr sz="1350">
                <a:solidFill>
                  <a:srgbClr val="334155"/>
                </a:solidFill>
                <a:latin typeface="Arimo"/>
                <a:ea typeface="Arimo"/>
                <a:cs typeface="Arimo"/>
                <a:sym typeface="Arimo"/>
              </a:endParaRPr>
            </a:p>
          </p:txBody>
        </p:sp>
        <p:sp>
          <p:nvSpPr>
            <p:cNvPr id="174" name="Google Shape;174;p18"/>
            <p:cNvSpPr txBox="1"/>
            <p:nvPr/>
          </p:nvSpPr>
          <p:spPr>
            <a:xfrm>
              <a:off x="952500" y="3762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2563EB"/>
                  </a:solidFill>
                  <a:latin typeface="Material Icons"/>
                  <a:ea typeface="Material Icons"/>
                  <a:cs typeface="Material Icons"/>
                  <a:sym typeface="Material Icons"/>
                </a:rPr>
                <a:t>cloud</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Amazon Bedrock:</a:t>
              </a:r>
              <a:r>
                <a:rPr lang="en-US" sz="1350">
                  <a:solidFill>
                    <a:srgbClr val="334155"/>
                  </a:solidFill>
                  <a:latin typeface="Arimo"/>
                  <a:ea typeface="Arimo"/>
                  <a:cs typeface="Arimo"/>
                  <a:sym typeface="Arimo"/>
                </a:rPr>
                <a:t> Agent orchestrates the RAG pipeline; Haiku fallback</a:t>
              </a:r>
              <a:endParaRPr sz="1350">
                <a:solidFill>
                  <a:srgbClr val="334155"/>
                </a:solidFill>
                <a:latin typeface="Arimo"/>
                <a:ea typeface="Arimo"/>
                <a:cs typeface="Arimo"/>
                <a:sym typeface="Arimo"/>
              </a:endParaRPr>
            </a:p>
          </p:txBody>
        </p:sp>
        <p:sp>
          <p:nvSpPr>
            <p:cNvPr id="175" name="Google Shape;175;p18"/>
            <p:cNvSpPr txBox="1"/>
            <p:nvPr/>
          </p:nvSpPr>
          <p:spPr>
            <a:xfrm>
              <a:off x="952500" y="4524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2563EB"/>
                  </a:solidFill>
                  <a:latin typeface="Material Icons"/>
                  <a:ea typeface="Material Icons"/>
                  <a:cs typeface="Material Icons"/>
                  <a:sym typeface="Material Icons"/>
                </a:rPr>
                <a:t>layers</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Docker:</a:t>
              </a:r>
              <a:r>
                <a:rPr lang="en-US" sz="1350">
                  <a:solidFill>
                    <a:srgbClr val="334155"/>
                  </a:solidFill>
                  <a:latin typeface="Arimo"/>
                  <a:ea typeface="Arimo"/>
                  <a:cs typeface="Arimo"/>
                  <a:sym typeface="Arimo"/>
                </a:rPr>
                <a:t> Containerises the Flask app for consistency</a:t>
              </a:r>
              <a:endParaRPr sz="1350">
                <a:solidFill>
                  <a:srgbClr val="334155"/>
                </a:solidFill>
                <a:latin typeface="Arimo"/>
                <a:ea typeface="Arimo"/>
                <a:cs typeface="Arimo"/>
                <a:sym typeface="Arimo"/>
              </a:endParaRPr>
            </a:p>
          </p:txBody>
        </p:sp>
        <p:sp>
          <p:nvSpPr>
            <p:cNvPr id="176" name="Google Shape;176;p18"/>
            <p:cNvSpPr txBox="1"/>
            <p:nvPr/>
          </p:nvSpPr>
          <p:spPr>
            <a:xfrm>
              <a:off x="952500" y="5286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2563EB"/>
                  </a:solidFill>
                  <a:latin typeface="Material Icons"/>
                  <a:ea typeface="Material Icons"/>
                  <a:cs typeface="Material Icons"/>
                  <a:sym typeface="Material Icons"/>
                </a:rPr>
                <a:t>dns</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AWS EC2:</a:t>
              </a:r>
              <a:r>
                <a:rPr lang="en-US" sz="1350">
                  <a:solidFill>
                    <a:srgbClr val="334155"/>
                  </a:solidFill>
                  <a:latin typeface="Arimo"/>
                  <a:ea typeface="Arimo"/>
                  <a:cs typeface="Arimo"/>
                  <a:sym typeface="Arimo"/>
                </a:rPr>
                <a:t> Hosts the containerised app publicly</a:t>
              </a:r>
              <a:endParaRPr sz="1350">
                <a:solidFill>
                  <a:srgbClr val="334155"/>
                </a:solidFill>
                <a:latin typeface="Arimo"/>
                <a:ea typeface="Arimo"/>
                <a:cs typeface="Arimo"/>
                <a:sym typeface="Arimo"/>
              </a:endParaRPr>
            </a:p>
          </p:txBody>
        </p:sp>
      </p:grpSp>
      <p:grpSp>
        <p:nvGrpSpPr>
          <p:cNvPr id="177" name="Google Shape;177;p18"/>
          <p:cNvGrpSpPr/>
          <p:nvPr/>
        </p:nvGrpSpPr>
        <p:grpSpPr>
          <a:xfrm>
            <a:off x="6286500" y="1524000"/>
            <a:ext cx="5143500" cy="4572000"/>
            <a:chOff x="6286500" y="1524000"/>
            <a:chExt cx="5143500" cy="4572000"/>
          </a:xfrm>
        </p:grpSpPr>
        <p:sp>
          <p:nvSpPr>
            <p:cNvPr id="178" name="Google Shape;178;p18"/>
            <p:cNvSpPr/>
            <p:nvPr/>
          </p:nvSpPr>
          <p:spPr>
            <a:xfrm>
              <a:off x="6286500" y="1524000"/>
              <a:ext cx="51435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p:nvPr/>
          </p:nvSpPr>
          <p:spPr>
            <a:xfrm>
              <a:off x="6286500" y="1524000"/>
              <a:ext cx="5143500" cy="571500"/>
            </a:xfrm>
            <a:prstGeom prst="roundRect">
              <a:avLst>
                <a:gd fmla="val 2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8"/>
            <p:cNvSpPr/>
            <p:nvPr/>
          </p:nvSpPr>
          <p:spPr>
            <a:xfrm>
              <a:off x="6286500" y="1905000"/>
              <a:ext cx="5143500" cy="1905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8"/>
            <p:cNvSpPr txBox="1"/>
            <p:nvPr/>
          </p:nvSpPr>
          <p:spPr>
            <a:xfrm>
              <a:off x="6477000" y="1571625"/>
              <a:ext cx="4762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Azeret Mono"/>
                  <a:ea typeface="Azeret Mono"/>
                  <a:cs typeface="Azeret Mono"/>
                  <a:sym typeface="Azeret Mono"/>
                </a:rPr>
                <a:t>Frontend &amp; Tools</a:t>
              </a:r>
              <a:endParaRPr b="1" sz="2000">
                <a:solidFill>
                  <a:srgbClr val="FFFFFF"/>
                </a:solidFill>
                <a:latin typeface="Azeret Mono"/>
                <a:ea typeface="Azeret Mono"/>
                <a:cs typeface="Azeret Mono"/>
                <a:sym typeface="Azeret Mono"/>
              </a:endParaRPr>
            </a:p>
          </p:txBody>
        </p:sp>
        <p:sp>
          <p:nvSpPr>
            <p:cNvPr id="182" name="Google Shape;182;p18"/>
            <p:cNvSpPr txBox="1"/>
            <p:nvPr/>
          </p:nvSpPr>
          <p:spPr>
            <a:xfrm>
              <a:off x="6477000" y="2238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10B981"/>
                  </a:solidFill>
                  <a:latin typeface="Material Icons"/>
                  <a:ea typeface="Material Icons"/>
                  <a:cs typeface="Material Icons"/>
                  <a:sym typeface="Material Icons"/>
                </a:rPr>
                <a:t>psychology</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RAG:</a:t>
              </a:r>
              <a:r>
                <a:rPr lang="en-US" sz="1350">
                  <a:solidFill>
                    <a:srgbClr val="334155"/>
                  </a:solidFill>
                  <a:latin typeface="Arimo"/>
                  <a:ea typeface="Arimo"/>
                  <a:cs typeface="Arimo"/>
                  <a:sym typeface="Arimo"/>
                </a:rPr>
                <a:t> Retrieval-Augmented Gen via Bedrock Knowledge Base</a:t>
              </a:r>
              <a:endParaRPr sz="1350">
                <a:solidFill>
                  <a:srgbClr val="334155"/>
                </a:solidFill>
                <a:latin typeface="Arimo"/>
                <a:ea typeface="Arimo"/>
                <a:cs typeface="Arimo"/>
                <a:sym typeface="Arimo"/>
              </a:endParaRPr>
            </a:p>
          </p:txBody>
        </p:sp>
        <p:sp>
          <p:nvSpPr>
            <p:cNvPr id="183" name="Google Shape;183;p18"/>
            <p:cNvSpPr txBox="1"/>
            <p:nvPr/>
          </p:nvSpPr>
          <p:spPr>
            <a:xfrm>
              <a:off x="6477000" y="3000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10B981"/>
                  </a:solidFill>
                  <a:latin typeface="Material Icons"/>
                  <a:ea typeface="Material Icons"/>
                  <a:cs typeface="Material Icons"/>
                  <a:sym typeface="Material Icons"/>
                </a:rPr>
                <a:t>web</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HTML / CSS / JS:</a:t>
              </a:r>
              <a:r>
                <a:rPr lang="en-US" sz="1350">
                  <a:solidFill>
                    <a:srgbClr val="334155"/>
                  </a:solidFill>
                  <a:latin typeface="Arimo"/>
                  <a:ea typeface="Arimo"/>
                  <a:cs typeface="Arimo"/>
                  <a:sym typeface="Arimo"/>
                </a:rPr>
                <a:t> Skeuomorphic office-desk UI design</a:t>
              </a:r>
              <a:endParaRPr sz="1350">
                <a:solidFill>
                  <a:srgbClr val="334155"/>
                </a:solidFill>
                <a:latin typeface="Arimo"/>
                <a:ea typeface="Arimo"/>
                <a:cs typeface="Arimo"/>
                <a:sym typeface="Arimo"/>
              </a:endParaRPr>
            </a:p>
          </p:txBody>
        </p:sp>
        <p:sp>
          <p:nvSpPr>
            <p:cNvPr id="184" name="Google Shape;184;p18"/>
            <p:cNvSpPr txBox="1"/>
            <p:nvPr/>
          </p:nvSpPr>
          <p:spPr>
            <a:xfrm>
              <a:off x="6477000" y="3762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10B981"/>
                  </a:solidFill>
                  <a:latin typeface="Material Icons"/>
                  <a:ea typeface="Material Icons"/>
                  <a:cs typeface="Material Icons"/>
                  <a:sym typeface="Material Icons"/>
                </a:rPr>
                <a:t>touch_app</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UI Features:</a:t>
              </a:r>
              <a:r>
                <a:rPr lang="en-US" sz="1350">
                  <a:solidFill>
                    <a:srgbClr val="334155"/>
                  </a:solidFill>
                  <a:latin typeface="Arimo"/>
                  <a:ea typeface="Arimo"/>
                  <a:cs typeface="Arimo"/>
                  <a:sym typeface="Arimo"/>
                </a:rPr>
                <a:t> Tab navigation and dynamic ink-stamp graphics</a:t>
              </a:r>
              <a:endParaRPr sz="1350">
                <a:solidFill>
                  <a:srgbClr val="334155"/>
                </a:solidFill>
                <a:latin typeface="Arimo"/>
                <a:ea typeface="Arimo"/>
                <a:cs typeface="Arimo"/>
                <a:sym typeface="Arimo"/>
              </a:endParaRPr>
            </a:p>
          </p:txBody>
        </p:sp>
        <p:sp>
          <p:nvSpPr>
            <p:cNvPr id="185" name="Google Shape;185;p18"/>
            <p:cNvSpPr txBox="1"/>
            <p:nvPr/>
          </p:nvSpPr>
          <p:spPr>
            <a:xfrm>
              <a:off x="6477000" y="4524375"/>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lang="en-US" sz="1600">
                  <a:solidFill>
                    <a:srgbClr val="10B981"/>
                  </a:solidFill>
                  <a:latin typeface="Material Icons"/>
                  <a:ea typeface="Material Icons"/>
                  <a:cs typeface="Material Icons"/>
                  <a:sym typeface="Material Icons"/>
                </a:rPr>
                <a:t>account_tree</a:t>
              </a:r>
              <a:r>
                <a:rPr lang="en-US" sz="1350">
                  <a:solidFill>
                    <a:srgbClr val="334155"/>
                  </a:solidFill>
                  <a:latin typeface="Arimo"/>
                  <a:ea typeface="Arimo"/>
                  <a:cs typeface="Arimo"/>
                  <a:sym typeface="Arimo"/>
                </a:rPr>
                <a:t> </a:t>
              </a:r>
              <a:r>
                <a:rPr b="1" lang="en-US" sz="1350">
                  <a:solidFill>
                    <a:srgbClr val="334155"/>
                  </a:solidFill>
                  <a:latin typeface="Arimo"/>
                  <a:ea typeface="Arimo"/>
                  <a:cs typeface="Arimo"/>
                  <a:sym typeface="Arimo"/>
                </a:rPr>
                <a:t>Git / GitHub:</a:t>
              </a:r>
              <a:r>
                <a:rPr lang="en-US" sz="1350">
                  <a:solidFill>
                    <a:srgbClr val="334155"/>
                  </a:solidFill>
                  <a:latin typeface="Arimo"/>
                  <a:ea typeface="Arimo"/>
                  <a:cs typeface="Arimo"/>
                  <a:sym typeface="Arimo"/>
                </a:rPr>
                <a:t> Version control and repository management</a:t>
              </a:r>
              <a:endParaRPr sz="1350">
                <a:solidFill>
                  <a:srgbClr val="334155"/>
                </a:solidFill>
                <a:latin typeface="Arimo"/>
                <a:ea typeface="Arimo"/>
                <a:cs typeface="Arimo"/>
                <a:sym typeface="Arimo"/>
              </a:endParaRPr>
            </a:p>
          </p:txBody>
        </p:sp>
      </p:grpSp>
      <p:sp>
        <p:nvSpPr>
          <p:cNvPr id="186" name="Google Shape;186;p18"/>
          <p:cNvSpPr txBox="1"/>
          <p:nvPr/>
        </p:nvSpPr>
        <p:spPr>
          <a:xfrm>
            <a:off x="771525" y="581025"/>
            <a:ext cx="11181300" cy="47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060">
                <a:solidFill>
                  <a:srgbClr val="0F172A"/>
                </a:solidFill>
                <a:latin typeface="Azeret Mono"/>
                <a:ea typeface="Azeret Mono"/>
                <a:cs typeface="Azeret Mono"/>
                <a:sym typeface="Azeret Mono"/>
              </a:rPr>
              <a:t>Technologies Used</a:t>
            </a:r>
            <a:endParaRPr b="1" sz="3060">
              <a:solidFill>
                <a:srgbClr val="0F172A"/>
              </a:solidFill>
              <a:latin typeface="Azeret Mono"/>
              <a:ea typeface="Azeret Mono"/>
              <a:cs typeface="Azeret Mono"/>
              <a:sym typeface="Azeret Mono"/>
            </a:endParaRPr>
          </a:p>
        </p:txBody>
      </p:sp>
      <p:sp>
        <p:nvSpPr>
          <p:cNvPr id="187" name="Google Shape;187;p18"/>
          <p:cNvSpPr/>
          <p:nvPr/>
        </p:nvSpPr>
        <p:spPr>
          <a:xfrm>
            <a:off x="771525" y="1162050"/>
            <a:ext cx="10649100" cy="192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grpSp>
        <p:nvGrpSpPr>
          <p:cNvPr id="192" name="Google Shape;192;p19"/>
          <p:cNvGrpSpPr/>
          <p:nvPr/>
        </p:nvGrpSpPr>
        <p:grpSpPr>
          <a:xfrm>
            <a:off x="762000" y="571500"/>
            <a:ext cx="10668000" cy="685950"/>
            <a:chOff x="762000" y="571500"/>
            <a:chExt cx="10668000" cy="685950"/>
          </a:xfrm>
        </p:grpSpPr>
        <p:sp>
          <p:nvSpPr>
            <p:cNvPr id="193" name="Google Shape;193;p19"/>
            <p:cNvSpPr txBox="1"/>
            <p:nvPr/>
          </p:nvSpPr>
          <p:spPr>
            <a:xfrm>
              <a:off x="762000" y="571500"/>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F172A"/>
                  </a:solidFill>
                  <a:latin typeface="Azeret Mono"/>
                  <a:ea typeface="Azeret Mono"/>
                  <a:cs typeface="Azeret Mono"/>
                  <a:sym typeface="Azeret Mono"/>
                </a:rPr>
                <a:t>Architecture Workflow</a:t>
              </a:r>
              <a:endParaRPr b="1" sz="3600">
                <a:solidFill>
                  <a:srgbClr val="0F172A"/>
                </a:solidFill>
                <a:latin typeface="Azeret Mono"/>
                <a:ea typeface="Azeret Mono"/>
                <a:cs typeface="Azeret Mono"/>
                <a:sym typeface="Azeret Mono"/>
              </a:endParaRPr>
            </a:p>
          </p:txBody>
        </p:sp>
        <p:sp>
          <p:nvSpPr>
            <p:cNvPr id="194" name="Google Shape;194;p19"/>
            <p:cNvSpPr/>
            <p:nvPr/>
          </p:nvSpPr>
          <p:spPr>
            <a:xfrm>
              <a:off x="762000" y="1238250"/>
              <a:ext cx="106680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5" name="Google Shape;195;p19"/>
          <p:cNvGrpSpPr/>
          <p:nvPr/>
        </p:nvGrpSpPr>
        <p:grpSpPr>
          <a:xfrm>
            <a:off x="762000" y="1714549"/>
            <a:ext cx="2476500" cy="2108454"/>
            <a:chOff x="762000" y="1714500"/>
            <a:chExt cx="2476500" cy="1905000"/>
          </a:xfrm>
        </p:grpSpPr>
        <p:sp>
          <p:nvSpPr>
            <p:cNvPr id="196" name="Google Shape;196;p19"/>
            <p:cNvSpPr/>
            <p:nvPr/>
          </p:nvSpPr>
          <p:spPr>
            <a:xfrm>
              <a:off x="762000" y="1714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9"/>
            <p:cNvSpPr/>
            <p:nvPr/>
          </p:nvSpPr>
          <p:spPr>
            <a:xfrm>
              <a:off x="885825" y="1838325"/>
              <a:ext cx="228600" cy="2286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9"/>
            <p:cNvSpPr txBox="1"/>
            <p:nvPr/>
          </p:nvSpPr>
          <p:spPr>
            <a:xfrm>
              <a:off x="933450" y="1857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1</a:t>
              </a:r>
              <a:endParaRPr b="1" sz="1000">
                <a:solidFill>
                  <a:srgbClr val="FFFFFF"/>
                </a:solidFill>
                <a:latin typeface="Arimo"/>
                <a:ea typeface="Arimo"/>
                <a:cs typeface="Arimo"/>
                <a:sym typeface="Arimo"/>
              </a:endParaRPr>
            </a:p>
          </p:txBody>
        </p:sp>
        <p:sp>
          <p:nvSpPr>
            <p:cNvPr id="199" name="Google Shape;199;p19"/>
            <p:cNvSpPr txBox="1"/>
            <p:nvPr/>
          </p:nvSpPr>
          <p:spPr>
            <a:xfrm>
              <a:off x="1000125" y="2178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EF4444"/>
                  </a:solidFill>
                  <a:latin typeface="Material Icons"/>
                  <a:ea typeface="Material Icons"/>
                  <a:cs typeface="Material Icons"/>
                  <a:sym typeface="Material Icons"/>
                </a:rPr>
                <a:t>person</a:t>
              </a:r>
              <a:endParaRPr sz="2400">
                <a:solidFill>
                  <a:srgbClr val="EF4444"/>
                </a:solidFill>
                <a:latin typeface="Material Icons"/>
                <a:ea typeface="Material Icons"/>
                <a:cs typeface="Material Icons"/>
                <a:sym typeface="Material Icons"/>
              </a:endParaRPr>
            </a:p>
          </p:txBody>
        </p:sp>
        <p:sp>
          <p:nvSpPr>
            <p:cNvPr id="200" name="Google Shape;200;p19"/>
            <p:cNvSpPr txBox="1"/>
            <p:nvPr/>
          </p:nvSpPr>
          <p:spPr>
            <a:xfrm>
              <a:off x="1000125" y="2524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User</a:t>
              </a:r>
              <a:endParaRPr b="1" sz="1600">
                <a:solidFill>
                  <a:srgbClr val="0F172A"/>
                </a:solidFill>
                <a:latin typeface="Arimo"/>
                <a:ea typeface="Arimo"/>
                <a:cs typeface="Arimo"/>
                <a:sym typeface="Arimo"/>
              </a:endParaRPr>
            </a:p>
          </p:txBody>
        </p:sp>
        <p:sp>
          <p:nvSpPr>
            <p:cNvPr id="201" name="Google Shape;201;p19"/>
            <p:cNvSpPr txBox="1"/>
            <p:nvPr/>
          </p:nvSpPr>
          <p:spPr>
            <a:xfrm>
              <a:off x="1000125" y="2809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Enters a question in the browser chat interface</a:t>
              </a:r>
              <a:endParaRPr b="0">
                <a:solidFill>
                  <a:srgbClr val="475569"/>
                </a:solidFill>
                <a:latin typeface="Arimo"/>
                <a:ea typeface="Arimo"/>
                <a:cs typeface="Arimo"/>
                <a:sym typeface="Arimo"/>
              </a:endParaRPr>
            </a:p>
          </p:txBody>
        </p:sp>
      </p:grpSp>
      <p:grpSp>
        <p:nvGrpSpPr>
          <p:cNvPr id="202" name="Google Shape;202;p19"/>
          <p:cNvGrpSpPr/>
          <p:nvPr/>
        </p:nvGrpSpPr>
        <p:grpSpPr>
          <a:xfrm>
            <a:off x="3524250" y="1714504"/>
            <a:ext cx="2476500" cy="2108454"/>
            <a:chOff x="3524250" y="1714500"/>
            <a:chExt cx="2476500" cy="1905000"/>
          </a:xfrm>
        </p:grpSpPr>
        <p:sp>
          <p:nvSpPr>
            <p:cNvPr id="203" name="Google Shape;203;p19"/>
            <p:cNvSpPr/>
            <p:nvPr/>
          </p:nvSpPr>
          <p:spPr>
            <a:xfrm>
              <a:off x="3524250" y="1714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9"/>
            <p:cNvSpPr/>
            <p:nvPr/>
          </p:nvSpPr>
          <p:spPr>
            <a:xfrm>
              <a:off x="3648075" y="1838325"/>
              <a:ext cx="228600" cy="2286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9"/>
            <p:cNvSpPr txBox="1"/>
            <p:nvPr/>
          </p:nvSpPr>
          <p:spPr>
            <a:xfrm>
              <a:off x="3695700" y="1857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2</a:t>
              </a:r>
              <a:endParaRPr b="1" sz="1000">
                <a:solidFill>
                  <a:srgbClr val="FFFFFF"/>
                </a:solidFill>
                <a:latin typeface="Arimo"/>
                <a:ea typeface="Arimo"/>
                <a:cs typeface="Arimo"/>
                <a:sym typeface="Arimo"/>
              </a:endParaRPr>
            </a:p>
          </p:txBody>
        </p:sp>
        <p:sp>
          <p:nvSpPr>
            <p:cNvPr id="206" name="Google Shape;206;p19"/>
            <p:cNvSpPr txBox="1"/>
            <p:nvPr/>
          </p:nvSpPr>
          <p:spPr>
            <a:xfrm>
              <a:off x="3762375" y="2178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3B82F6"/>
                  </a:solidFill>
                  <a:latin typeface="Material Icons"/>
                  <a:ea typeface="Material Icons"/>
                  <a:cs typeface="Material Icons"/>
                  <a:sym typeface="Material Icons"/>
                </a:rPr>
                <a:t>api</a:t>
              </a:r>
              <a:endParaRPr sz="2400">
                <a:solidFill>
                  <a:srgbClr val="3B82F6"/>
                </a:solidFill>
                <a:latin typeface="Material Icons"/>
                <a:ea typeface="Material Icons"/>
                <a:cs typeface="Material Icons"/>
                <a:sym typeface="Material Icons"/>
              </a:endParaRPr>
            </a:p>
          </p:txBody>
        </p:sp>
        <p:sp>
          <p:nvSpPr>
            <p:cNvPr id="207" name="Google Shape;207;p19"/>
            <p:cNvSpPr txBox="1"/>
            <p:nvPr/>
          </p:nvSpPr>
          <p:spPr>
            <a:xfrm>
              <a:off x="3762375" y="2524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Flask /ask</a:t>
              </a:r>
              <a:endParaRPr b="1" sz="1500">
                <a:solidFill>
                  <a:srgbClr val="0F172A"/>
                </a:solidFill>
                <a:latin typeface="Arimo"/>
                <a:ea typeface="Arimo"/>
                <a:cs typeface="Arimo"/>
                <a:sym typeface="Arimo"/>
              </a:endParaRPr>
            </a:p>
          </p:txBody>
        </p:sp>
        <p:sp>
          <p:nvSpPr>
            <p:cNvPr id="208" name="Google Shape;208;p19"/>
            <p:cNvSpPr txBox="1"/>
            <p:nvPr/>
          </p:nvSpPr>
          <p:spPr>
            <a:xfrm>
              <a:off x="3762375" y="2809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Receives the POST request, extracts session &amp; question</a:t>
              </a:r>
              <a:endParaRPr b="0">
                <a:solidFill>
                  <a:srgbClr val="475569"/>
                </a:solidFill>
                <a:latin typeface="Arimo"/>
                <a:ea typeface="Arimo"/>
                <a:cs typeface="Arimo"/>
                <a:sym typeface="Arimo"/>
              </a:endParaRPr>
            </a:p>
          </p:txBody>
        </p:sp>
      </p:grpSp>
      <p:grpSp>
        <p:nvGrpSpPr>
          <p:cNvPr id="209" name="Google Shape;209;p19"/>
          <p:cNvGrpSpPr/>
          <p:nvPr/>
        </p:nvGrpSpPr>
        <p:grpSpPr>
          <a:xfrm>
            <a:off x="6286500" y="1714504"/>
            <a:ext cx="2476500" cy="2108454"/>
            <a:chOff x="6286500" y="1714500"/>
            <a:chExt cx="2476500" cy="1905000"/>
          </a:xfrm>
        </p:grpSpPr>
        <p:sp>
          <p:nvSpPr>
            <p:cNvPr id="210" name="Google Shape;210;p19"/>
            <p:cNvSpPr/>
            <p:nvPr/>
          </p:nvSpPr>
          <p:spPr>
            <a:xfrm>
              <a:off x="6286500" y="1714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9"/>
            <p:cNvSpPr/>
            <p:nvPr/>
          </p:nvSpPr>
          <p:spPr>
            <a:xfrm>
              <a:off x="6410325" y="1838325"/>
              <a:ext cx="228600" cy="2286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9"/>
            <p:cNvSpPr txBox="1"/>
            <p:nvPr/>
          </p:nvSpPr>
          <p:spPr>
            <a:xfrm>
              <a:off x="6457950" y="1857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3</a:t>
              </a:r>
              <a:endParaRPr b="1" sz="1000">
                <a:solidFill>
                  <a:srgbClr val="FFFFFF"/>
                </a:solidFill>
                <a:latin typeface="Arimo"/>
                <a:ea typeface="Arimo"/>
                <a:cs typeface="Arimo"/>
                <a:sym typeface="Arimo"/>
              </a:endParaRPr>
            </a:p>
          </p:txBody>
        </p:sp>
        <p:sp>
          <p:nvSpPr>
            <p:cNvPr id="213" name="Google Shape;213;p19"/>
            <p:cNvSpPr txBox="1"/>
            <p:nvPr/>
          </p:nvSpPr>
          <p:spPr>
            <a:xfrm>
              <a:off x="6524625" y="2178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F59E0B"/>
                  </a:solidFill>
                  <a:latin typeface="Material Icons"/>
                  <a:ea typeface="Material Icons"/>
                  <a:cs typeface="Material Icons"/>
                  <a:sym typeface="Material Icons"/>
                </a:rPr>
                <a:t>smart_toy</a:t>
              </a:r>
              <a:endParaRPr sz="2400">
                <a:solidFill>
                  <a:srgbClr val="F59E0B"/>
                </a:solidFill>
                <a:latin typeface="Material Icons"/>
                <a:ea typeface="Material Icons"/>
                <a:cs typeface="Material Icons"/>
                <a:sym typeface="Material Icons"/>
              </a:endParaRPr>
            </a:p>
          </p:txBody>
        </p:sp>
        <p:sp>
          <p:nvSpPr>
            <p:cNvPr id="214" name="Google Shape;214;p19"/>
            <p:cNvSpPr txBox="1"/>
            <p:nvPr/>
          </p:nvSpPr>
          <p:spPr>
            <a:xfrm>
              <a:off x="6524625" y="2524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Bedrock Agent</a:t>
              </a:r>
              <a:endParaRPr b="1" sz="1500">
                <a:solidFill>
                  <a:srgbClr val="0F172A"/>
                </a:solidFill>
                <a:latin typeface="Arimo"/>
                <a:ea typeface="Arimo"/>
                <a:cs typeface="Arimo"/>
                <a:sym typeface="Arimo"/>
              </a:endParaRPr>
            </a:p>
          </p:txBody>
        </p:sp>
        <p:sp>
          <p:nvSpPr>
            <p:cNvPr id="215" name="Google Shape;215;p19"/>
            <p:cNvSpPr txBox="1"/>
            <p:nvPr/>
          </p:nvSpPr>
          <p:spPr>
            <a:xfrm>
              <a:off x="6524625" y="2809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Invokes agent via boto3; searches Knowledge Base</a:t>
              </a:r>
              <a:endParaRPr b="0">
                <a:solidFill>
                  <a:srgbClr val="475569"/>
                </a:solidFill>
                <a:latin typeface="Arimo"/>
                <a:ea typeface="Arimo"/>
                <a:cs typeface="Arimo"/>
                <a:sym typeface="Arimo"/>
              </a:endParaRPr>
            </a:p>
          </p:txBody>
        </p:sp>
      </p:grpSp>
      <p:grpSp>
        <p:nvGrpSpPr>
          <p:cNvPr id="216" name="Google Shape;216;p19"/>
          <p:cNvGrpSpPr/>
          <p:nvPr/>
        </p:nvGrpSpPr>
        <p:grpSpPr>
          <a:xfrm>
            <a:off x="9048750" y="1714504"/>
            <a:ext cx="2476500" cy="2108454"/>
            <a:chOff x="9048750" y="1714500"/>
            <a:chExt cx="2476500" cy="1905000"/>
          </a:xfrm>
        </p:grpSpPr>
        <p:sp>
          <p:nvSpPr>
            <p:cNvPr id="217" name="Google Shape;217;p19"/>
            <p:cNvSpPr/>
            <p:nvPr/>
          </p:nvSpPr>
          <p:spPr>
            <a:xfrm>
              <a:off x="9048750" y="1714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9"/>
            <p:cNvSpPr/>
            <p:nvPr/>
          </p:nvSpPr>
          <p:spPr>
            <a:xfrm>
              <a:off x="9172575" y="1838325"/>
              <a:ext cx="228600" cy="228600"/>
            </a:xfrm>
            <a:prstGeom prst="ellipse">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9"/>
            <p:cNvSpPr txBox="1"/>
            <p:nvPr/>
          </p:nvSpPr>
          <p:spPr>
            <a:xfrm>
              <a:off x="9220200" y="1857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4</a:t>
              </a:r>
              <a:endParaRPr b="1" sz="1000">
                <a:solidFill>
                  <a:srgbClr val="FFFFFF"/>
                </a:solidFill>
                <a:latin typeface="Arimo"/>
                <a:ea typeface="Arimo"/>
                <a:cs typeface="Arimo"/>
                <a:sym typeface="Arimo"/>
              </a:endParaRPr>
            </a:p>
          </p:txBody>
        </p:sp>
        <p:sp>
          <p:nvSpPr>
            <p:cNvPr id="220" name="Google Shape;220;p19"/>
            <p:cNvSpPr txBox="1"/>
            <p:nvPr/>
          </p:nvSpPr>
          <p:spPr>
            <a:xfrm>
              <a:off x="9286875" y="2178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F172A"/>
                  </a:solidFill>
                  <a:latin typeface="Material Icons"/>
                  <a:ea typeface="Material Icons"/>
                  <a:cs typeface="Material Icons"/>
                  <a:sym typeface="Material Icons"/>
                </a:rPr>
                <a:t>account_tree</a:t>
              </a:r>
              <a:endParaRPr sz="2400">
                <a:solidFill>
                  <a:srgbClr val="0F172A"/>
                </a:solidFill>
                <a:latin typeface="Material Icons"/>
                <a:ea typeface="Material Icons"/>
                <a:cs typeface="Material Icons"/>
                <a:sym typeface="Material Icons"/>
              </a:endParaRPr>
            </a:p>
          </p:txBody>
        </p:sp>
        <p:sp>
          <p:nvSpPr>
            <p:cNvPr id="221" name="Google Shape;221;p19"/>
            <p:cNvSpPr txBox="1"/>
            <p:nvPr/>
          </p:nvSpPr>
          <p:spPr>
            <a:xfrm>
              <a:off x="9286875" y="2524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RAG Pipeline</a:t>
              </a:r>
              <a:endParaRPr b="1" sz="1500">
                <a:solidFill>
                  <a:srgbClr val="0F172A"/>
                </a:solidFill>
                <a:latin typeface="Arimo"/>
                <a:ea typeface="Arimo"/>
                <a:cs typeface="Arimo"/>
                <a:sym typeface="Arimo"/>
              </a:endParaRPr>
            </a:p>
          </p:txBody>
        </p:sp>
        <p:sp>
          <p:nvSpPr>
            <p:cNvPr id="222" name="Google Shape;222;p19"/>
            <p:cNvSpPr txBox="1"/>
            <p:nvPr/>
          </p:nvSpPr>
          <p:spPr>
            <a:xfrm>
              <a:off x="9286875" y="2809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Retrieves relevant S3 document chunks</a:t>
              </a:r>
              <a:endParaRPr b="0">
                <a:solidFill>
                  <a:srgbClr val="475569"/>
                </a:solidFill>
                <a:latin typeface="Arimo"/>
                <a:ea typeface="Arimo"/>
                <a:cs typeface="Arimo"/>
                <a:sym typeface="Arimo"/>
              </a:endParaRPr>
            </a:p>
          </p:txBody>
        </p:sp>
      </p:grpSp>
      <p:grpSp>
        <p:nvGrpSpPr>
          <p:cNvPr id="223" name="Google Shape;223;p19"/>
          <p:cNvGrpSpPr/>
          <p:nvPr/>
        </p:nvGrpSpPr>
        <p:grpSpPr>
          <a:xfrm>
            <a:off x="9048750" y="4000508"/>
            <a:ext cx="2476500" cy="2108454"/>
            <a:chOff x="9048750" y="4000500"/>
            <a:chExt cx="2476500" cy="1905000"/>
          </a:xfrm>
        </p:grpSpPr>
        <p:sp>
          <p:nvSpPr>
            <p:cNvPr id="224" name="Google Shape;224;p19"/>
            <p:cNvSpPr/>
            <p:nvPr/>
          </p:nvSpPr>
          <p:spPr>
            <a:xfrm>
              <a:off x="9048750" y="4000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p:nvPr/>
          </p:nvSpPr>
          <p:spPr>
            <a:xfrm>
              <a:off x="9172575" y="4124325"/>
              <a:ext cx="228600" cy="228600"/>
            </a:xfrm>
            <a:prstGeom prst="ellipse">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txBox="1"/>
            <p:nvPr/>
          </p:nvSpPr>
          <p:spPr>
            <a:xfrm>
              <a:off x="9220200" y="4143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5</a:t>
              </a:r>
              <a:endParaRPr b="1" sz="1000">
                <a:solidFill>
                  <a:srgbClr val="FFFFFF"/>
                </a:solidFill>
                <a:latin typeface="Arimo"/>
                <a:ea typeface="Arimo"/>
                <a:cs typeface="Arimo"/>
                <a:sym typeface="Arimo"/>
              </a:endParaRPr>
            </a:p>
          </p:txBody>
        </p:sp>
        <p:sp>
          <p:nvSpPr>
            <p:cNvPr id="227" name="Google Shape;227;p19"/>
            <p:cNvSpPr txBox="1"/>
            <p:nvPr/>
          </p:nvSpPr>
          <p:spPr>
            <a:xfrm>
              <a:off x="9286875" y="4464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8B5CF6"/>
                  </a:solidFill>
                  <a:latin typeface="Material Icons"/>
                  <a:ea typeface="Material Icons"/>
                  <a:cs typeface="Material Icons"/>
                  <a:sym typeface="Material Icons"/>
                </a:rPr>
                <a:t>psychology</a:t>
              </a:r>
              <a:endParaRPr sz="2400">
                <a:solidFill>
                  <a:srgbClr val="8B5CF6"/>
                </a:solidFill>
                <a:latin typeface="Material Icons"/>
                <a:ea typeface="Material Icons"/>
                <a:cs typeface="Material Icons"/>
                <a:sym typeface="Material Icons"/>
              </a:endParaRPr>
            </a:p>
          </p:txBody>
        </p:sp>
        <p:sp>
          <p:nvSpPr>
            <p:cNvPr id="228" name="Google Shape;228;p19"/>
            <p:cNvSpPr txBox="1"/>
            <p:nvPr/>
          </p:nvSpPr>
          <p:spPr>
            <a:xfrm>
              <a:off x="9286875" y="4810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LLM Gen</a:t>
              </a:r>
              <a:endParaRPr b="1" sz="1500">
                <a:solidFill>
                  <a:srgbClr val="0F172A"/>
                </a:solidFill>
                <a:latin typeface="Arimo"/>
                <a:ea typeface="Arimo"/>
                <a:cs typeface="Arimo"/>
                <a:sym typeface="Arimo"/>
              </a:endParaRPr>
            </a:p>
          </p:txBody>
        </p:sp>
        <p:sp>
          <p:nvSpPr>
            <p:cNvPr id="229" name="Google Shape;229;p19"/>
            <p:cNvSpPr txBox="1"/>
            <p:nvPr/>
          </p:nvSpPr>
          <p:spPr>
            <a:xfrm>
              <a:off x="9286875" y="5095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Claude generates an answer grounded in retrieved docs</a:t>
              </a:r>
              <a:endParaRPr b="0">
                <a:solidFill>
                  <a:srgbClr val="475569"/>
                </a:solidFill>
                <a:latin typeface="Arimo"/>
                <a:ea typeface="Arimo"/>
                <a:cs typeface="Arimo"/>
                <a:sym typeface="Arimo"/>
              </a:endParaRPr>
            </a:p>
          </p:txBody>
        </p:sp>
      </p:grpSp>
      <p:grpSp>
        <p:nvGrpSpPr>
          <p:cNvPr id="230" name="Google Shape;230;p19"/>
          <p:cNvGrpSpPr/>
          <p:nvPr/>
        </p:nvGrpSpPr>
        <p:grpSpPr>
          <a:xfrm>
            <a:off x="6286500" y="4000508"/>
            <a:ext cx="2476500" cy="2108454"/>
            <a:chOff x="6286500" y="4000500"/>
            <a:chExt cx="2476500" cy="1905000"/>
          </a:xfrm>
        </p:grpSpPr>
        <p:sp>
          <p:nvSpPr>
            <p:cNvPr id="231" name="Google Shape;231;p19"/>
            <p:cNvSpPr/>
            <p:nvPr/>
          </p:nvSpPr>
          <p:spPr>
            <a:xfrm>
              <a:off x="6286500" y="4000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9"/>
            <p:cNvSpPr/>
            <p:nvPr/>
          </p:nvSpPr>
          <p:spPr>
            <a:xfrm>
              <a:off x="6410325" y="4124325"/>
              <a:ext cx="228600" cy="228600"/>
            </a:xfrm>
            <a:prstGeom prst="ellipse">
              <a:avLst/>
            </a:prstGeom>
            <a:solidFill>
              <a:srgbClr val="F973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9"/>
            <p:cNvSpPr txBox="1"/>
            <p:nvPr/>
          </p:nvSpPr>
          <p:spPr>
            <a:xfrm>
              <a:off x="6457950" y="4143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6</a:t>
              </a:r>
              <a:endParaRPr b="1" sz="1000">
                <a:solidFill>
                  <a:srgbClr val="FFFFFF"/>
                </a:solidFill>
                <a:latin typeface="Arimo"/>
                <a:ea typeface="Arimo"/>
                <a:cs typeface="Arimo"/>
                <a:sym typeface="Arimo"/>
              </a:endParaRPr>
            </a:p>
          </p:txBody>
        </p:sp>
        <p:sp>
          <p:nvSpPr>
            <p:cNvPr id="234" name="Google Shape;234;p19"/>
            <p:cNvSpPr txBox="1"/>
            <p:nvPr/>
          </p:nvSpPr>
          <p:spPr>
            <a:xfrm>
              <a:off x="6524625" y="4464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F97316"/>
                  </a:solidFill>
                  <a:latin typeface="Material Icons"/>
                  <a:ea typeface="Material Icons"/>
                  <a:cs typeface="Material Icons"/>
                  <a:sym typeface="Material Icons"/>
                </a:rPr>
                <a:t>sync_problem</a:t>
              </a:r>
              <a:endParaRPr sz="2400">
                <a:solidFill>
                  <a:srgbClr val="F97316"/>
                </a:solidFill>
                <a:latin typeface="Material Icons"/>
                <a:ea typeface="Material Icons"/>
                <a:cs typeface="Material Icons"/>
                <a:sym typeface="Material Icons"/>
              </a:endParaRPr>
            </a:p>
          </p:txBody>
        </p:sp>
        <p:sp>
          <p:nvSpPr>
            <p:cNvPr id="235" name="Google Shape;235;p19"/>
            <p:cNvSpPr txBox="1"/>
            <p:nvPr/>
          </p:nvSpPr>
          <p:spPr>
            <a:xfrm>
              <a:off x="6524625" y="4810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Fallback</a:t>
              </a:r>
              <a:endParaRPr b="1" sz="1500">
                <a:solidFill>
                  <a:srgbClr val="0F172A"/>
                </a:solidFill>
                <a:latin typeface="Arimo"/>
                <a:ea typeface="Arimo"/>
                <a:cs typeface="Arimo"/>
                <a:sym typeface="Arimo"/>
              </a:endParaRPr>
            </a:p>
          </p:txBody>
        </p:sp>
        <p:sp>
          <p:nvSpPr>
            <p:cNvPr id="236" name="Google Shape;236;p19"/>
            <p:cNvSpPr txBox="1"/>
            <p:nvPr/>
          </p:nvSpPr>
          <p:spPr>
            <a:xfrm>
              <a:off x="6524625" y="5095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300">
                  <a:solidFill>
                    <a:srgbClr val="475569"/>
                  </a:solidFill>
                  <a:latin typeface="Arimo"/>
                  <a:ea typeface="Arimo"/>
                  <a:cs typeface="Arimo"/>
                  <a:sym typeface="Arimo"/>
                </a:rPr>
                <a:t>If agent declines, Claude Haiku answers as general knowledge</a:t>
              </a:r>
              <a:endParaRPr b="0" sz="1300">
                <a:solidFill>
                  <a:srgbClr val="475569"/>
                </a:solidFill>
                <a:latin typeface="Arimo"/>
                <a:ea typeface="Arimo"/>
                <a:cs typeface="Arimo"/>
                <a:sym typeface="Arimo"/>
              </a:endParaRPr>
            </a:p>
          </p:txBody>
        </p:sp>
      </p:grpSp>
      <p:grpSp>
        <p:nvGrpSpPr>
          <p:cNvPr id="237" name="Google Shape;237;p19"/>
          <p:cNvGrpSpPr/>
          <p:nvPr/>
        </p:nvGrpSpPr>
        <p:grpSpPr>
          <a:xfrm>
            <a:off x="3524250" y="4000508"/>
            <a:ext cx="2476500" cy="2108454"/>
            <a:chOff x="3524250" y="4000500"/>
            <a:chExt cx="2476500" cy="1905000"/>
          </a:xfrm>
        </p:grpSpPr>
        <p:sp>
          <p:nvSpPr>
            <p:cNvPr id="238" name="Google Shape;238;p19"/>
            <p:cNvSpPr/>
            <p:nvPr/>
          </p:nvSpPr>
          <p:spPr>
            <a:xfrm>
              <a:off x="3524250" y="4000500"/>
              <a:ext cx="2476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9"/>
            <p:cNvSpPr/>
            <p:nvPr/>
          </p:nvSpPr>
          <p:spPr>
            <a:xfrm>
              <a:off x="3648075" y="4124325"/>
              <a:ext cx="228600" cy="2286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txBox="1"/>
            <p:nvPr/>
          </p:nvSpPr>
          <p:spPr>
            <a:xfrm>
              <a:off x="3695700" y="4143375"/>
              <a:ext cx="1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mo"/>
                  <a:ea typeface="Arimo"/>
                  <a:cs typeface="Arimo"/>
                  <a:sym typeface="Arimo"/>
                </a:rPr>
                <a:t>7</a:t>
              </a:r>
              <a:endParaRPr b="1" sz="1000">
                <a:solidFill>
                  <a:srgbClr val="FFFFFF"/>
                </a:solidFill>
                <a:latin typeface="Arimo"/>
                <a:ea typeface="Arimo"/>
                <a:cs typeface="Arimo"/>
                <a:sym typeface="Arimo"/>
              </a:endParaRPr>
            </a:p>
          </p:txBody>
        </p:sp>
        <p:sp>
          <p:nvSpPr>
            <p:cNvPr id="241" name="Google Shape;241;p19"/>
            <p:cNvSpPr txBox="1"/>
            <p:nvPr/>
          </p:nvSpPr>
          <p:spPr>
            <a:xfrm>
              <a:off x="3762375" y="4464177"/>
              <a:ext cx="2000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10B981"/>
                  </a:solidFill>
                  <a:latin typeface="Material Icons"/>
                  <a:ea typeface="Material Icons"/>
                  <a:cs typeface="Material Icons"/>
                  <a:sym typeface="Material Icons"/>
                </a:rPr>
                <a:t>laptop_mac</a:t>
              </a:r>
              <a:endParaRPr sz="2400">
                <a:solidFill>
                  <a:srgbClr val="10B981"/>
                </a:solidFill>
                <a:latin typeface="Material Icons"/>
                <a:ea typeface="Material Icons"/>
                <a:cs typeface="Material Icons"/>
                <a:sym typeface="Material Icons"/>
              </a:endParaRPr>
            </a:p>
          </p:txBody>
        </p:sp>
        <p:sp>
          <p:nvSpPr>
            <p:cNvPr id="242" name="Google Shape;242;p19"/>
            <p:cNvSpPr txBox="1"/>
            <p:nvPr/>
          </p:nvSpPr>
          <p:spPr>
            <a:xfrm>
              <a:off x="3762375" y="4810125"/>
              <a:ext cx="2000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mo"/>
                  <a:ea typeface="Arimo"/>
                  <a:cs typeface="Arimo"/>
                  <a:sym typeface="Arimo"/>
                </a:rPr>
                <a:t>Frontend</a:t>
              </a:r>
              <a:endParaRPr b="1" sz="1500">
                <a:solidFill>
                  <a:srgbClr val="0F172A"/>
                </a:solidFill>
                <a:latin typeface="Arimo"/>
                <a:ea typeface="Arimo"/>
                <a:cs typeface="Arimo"/>
                <a:sym typeface="Arimo"/>
              </a:endParaRPr>
            </a:p>
          </p:txBody>
        </p:sp>
        <p:sp>
          <p:nvSpPr>
            <p:cNvPr id="243" name="Google Shape;243;p19"/>
            <p:cNvSpPr txBox="1"/>
            <p:nvPr/>
          </p:nvSpPr>
          <p:spPr>
            <a:xfrm>
              <a:off x="3762375" y="509587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a:solidFill>
                    <a:srgbClr val="475569"/>
                  </a:solidFill>
                  <a:latin typeface="Arimo"/>
                  <a:ea typeface="Arimo"/>
                  <a:cs typeface="Arimo"/>
                  <a:sym typeface="Arimo"/>
                </a:rPr>
                <a:t>Response &amp; citations rendered; contextual stamps added</a:t>
              </a:r>
              <a:endParaRPr b="0">
                <a:solidFill>
                  <a:srgbClr val="475569"/>
                </a:solidFill>
                <a:latin typeface="Arimo"/>
                <a:ea typeface="Arimo"/>
                <a:cs typeface="Arimo"/>
                <a:sym typeface="Arimo"/>
              </a:endParaRPr>
            </a:p>
          </p:txBody>
        </p:sp>
      </p:grpSp>
      <p:grpSp>
        <p:nvGrpSpPr>
          <p:cNvPr id="244" name="Google Shape;244;p19"/>
          <p:cNvGrpSpPr/>
          <p:nvPr/>
        </p:nvGrpSpPr>
        <p:grpSpPr>
          <a:xfrm>
            <a:off x="3238500" y="2628900"/>
            <a:ext cx="5810400" cy="2362200"/>
            <a:chOff x="3238500" y="2628900"/>
            <a:chExt cx="5810400" cy="2362200"/>
          </a:xfrm>
        </p:grpSpPr>
        <p:pic>
          <p:nvPicPr>
            <p:cNvPr id="245" name="Google Shape;245;p19"/>
            <p:cNvPicPr preferRelativeResize="0"/>
            <p:nvPr/>
          </p:nvPicPr>
          <p:blipFill rotWithShape="1">
            <a:blip r:embed="rId4">
              <a:alphaModFix/>
            </a:blip>
            <a:srcRect b="0" l="0" r="0" t="0"/>
            <a:stretch/>
          </p:blipFill>
          <p:spPr>
            <a:xfrm>
              <a:off x="3238500" y="2657475"/>
              <a:ext cx="209700" cy="19200"/>
            </a:xfrm>
            <a:prstGeom prst="rect">
              <a:avLst/>
            </a:prstGeom>
            <a:noFill/>
            <a:ln>
              <a:noFill/>
            </a:ln>
          </p:spPr>
        </p:pic>
        <p:pic>
          <p:nvPicPr>
            <p:cNvPr id="246" name="Google Shape;246;p19"/>
            <p:cNvPicPr preferRelativeResize="0"/>
            <p:nvPr/>
          </p:nvPicPr>
          <p:blipFill rotWithShape="1">
            <a:blip r:embed="rId5">
              <a:alphaModFix/>
            </a:blip>
            <a:srcRect b="0" l="0" r="0" t="0"/>
            <a:stretch/>
          </p:blipFill>
          <p:spPr>
            <a:xfrm>
              <a:off x="3448050" y="2628900"/>
              <a:ext cx="76200" cy="76200"/>
            </a:xfrm>
            <a:prstGeom prst="rect">
              <a:avLst/>
            </a:prstGeom>
            <a:noFill/>
            <a:ln>
              <a:noFill/>
            </a:ln>
          </p:spPr>
        </p:pic>
        <p:pic>
          <p:nvPicPr>
            <p:cNvPr id="247" name="Google Shape;247;p19"/>
            <p:cNvPicPr preferRelativeResize="0"/>
            <p:nvPr/>
          </p:nvPicPr>
          <p:blipFill rotWithShape="1">
            <a:blip r:embed="rId4">
              <a:alphaModFix/>
            </a:blip>
            <a:srcRect b="0" l="0" r="0" t="0"/>
            <a:stretch/>
          </p:blipFill>
          <p:spPr>
            <a:xfrm>
              <a:off x="6000750" y="2657475"/>
              <a:ext cx="209700" cy="19200"/>
            </a:xfrm>
            <a:prstGeom prst="rect">
              <a:avLst/>
            </a:prstGeom>
            <a:noFill/>
            <a:ln>
              <a:noFill/>
            </a:ln>
          </p:spPr>
        </p:pic>
        <p:pic>
          <p:nvPicPr>
            <p:cNvPr id="248" name="Google Shape;248;p19"/>
            <p:cNvPicPr preferRelativeResize="0"/>
            <p:nvPr/>
          </p:nvPicPr>
          <p:blipFill rotWithShape="1">
            <a:blip r:embed="rId5">
              <a:alphaModFix/>
            </a:blip>
            <a:srcRect b="0" l="0" r="0" t="0"/>
            <a:stretch/>
          </p:blipFill>
          <p:spPr>
            <a:xfrm>
              <a:off x="6210300" y="2628900"/>
              <a:ext cx="76200" cy="76200"/>
            </a:xfrm>
            <a:prstGeom prst="rect">
              <a:avLst/>
            </a:prstGeom>
            <a:noFill/>
            <a:ln>
              <a:noFill/>
            </a:ln>
          </p:spPr>
        </p:pic>
        <p:pic>
          <p:nvPicPr>
            <p:cNvPr id="249" name="Google Shape;249;p19"/>
            <p:cNvPicPr preferRelativeResize="0"/>
            <p:nvPr/>
          </p:nvPicPr>
          <p:blipFill rotWithShape="1">
            <a:blip r:embed="rId4">
              <a:alphaModFix/>
            </a:blip>
            <a:srcRect b="0" l="0" r="0" t="0"/>
            <a:stretch/>
          </p:blipFill>
          <p:spPr>
            <a:xfrm>
              <a:off x="8763000" y="2657475"/>
              <a:ext cx="209700" cy="19200"/>
            </a:xfrm>
            <a:prstGeom prst="rect">
              <a:avLst/>
            </a:prstGeom>
            <a:noFill/>
            <a:ln>
              <a:noFill/>
            </a:ln>
          </p:spPr>
        </p:pic>
        <p:pic>
          <p:nvPicPr>
            <p:cNvPr id="250" name="Google Shape;250;p19"/>
            <p:cNvPicPr preferRelativeResize="0"/>
            <p:nvPr/>
          </p:nvPicPr>
          <p:blipFill rotWithShape="1">
            <a:blip r:embed="rId5">
              <a:alphaModFix/>
            </a:blip>
            <a:srcRect b="0" l="0" r="0" t="0"/>
            <a:stretch/>
          </p:blipFill>
          <p:spPr>
            <a:xfrm>
              <a:off x="8972550" y="2628900"/>
              <a:ext cx="76200" cy="76200"/>
            </a:xfrm>
            <a:prstGeom prst="rect">
              <a:avLst/>
            </a:prstGeom>
            <a:noFill/>
            <a:ln>
              <a:noFill/>
            </a:ln>
          </p:spPr>
        </p:pic>
        <p:pic>
          <p:nvPicPr>
            <p:cNvPr id="251" name="Google Shape;251;p19"/>
            <p:cNvPicPr preferRelativeResize="0"/>
            <p:nvPr/>
          </p:nvPicPr>
          <p:blipFill rotWithShape="1">
            <a:blip r:embed="rId4">
              <a:alphaModFix/>
            </a:blip>
            <a:srcRect b="0" l="0" r="0" t="0"/>
            <a:stretch/>
          </p:blipFill>
          <p:spPr>
            <a:xfrm>
              <a:off x="8839200" y="4943475"/>
              <a:ext cx="209700" cy="19200"/>
            </a:xfrm>
            <a:prstGeom prst="rect">
              <a:avLst/>
            </a:prstGeom>
            <a:noFill/>
            <a:ln>
              <a:noFill/>
            </a:ln>
          </p:spPr>
        </p:pic>
        <p:pic>
          <p:nvPicPr>
            <p:cNvPr id="252" name="Google Shape;252;p19"/>
            <p:cNvPicPr preferRelativeResize="0"/>
            <p:nvPr/>
          </p:nvPicPr>
          <p:blipFill rotWithShape="1">
            <a:blip r:embed="rId6">
              <a:alphaModFix/>
            </a:blip>
            <a:srcRect b="0" l="0" r="0" t="0"/>
            <a:stretch/>
          </p:blipFill>
          <p:spPr>
            <a:xfrm>
              <a:off x="8763000" y="4914900"/>
              <a:ext cx="76200" cy="76200"/>
            </a:xfrm>
            <a:prstGeom prst="rect">
              <a:avLst/>
            </a:prstGeom>
            <a:noFill/>
            <a:ln>
              <a:noFill/>
            </a:ln>
          </p:spPr>
        </p:pic>
        <p:pic>
          <p:nvPicPr>
            <p:cNvPr id="253" name="Google Shape;253;p19"/>
            <p:cNvPicPr preferRelativeResize="0"/>
            <p:nvPr/>
          </p:nvPicPr>
          <p:blipFill rotWithShape="1">
            <a:blip r:embed="rId4">
              <a:alphaModFix/>
            </a:blip>
            <a:srcRect b="0" l="0" r="0" t="0"/>
            <a:stretch/>
          </p:blipFill>
          <p:spPr>
            <a:xfrm>
              <a:off x="6076950" y="4943475"/>
              <a:ext cx="209700" cy="19200"/>
            </a:xfrm>
            <a:prstGeom prst="rect">
              <a:avLst/>
            </a:prstGeom>
            <a:noFill/>
            <a:ln>
              <a:noFill/>
            </a:ln>
          </p:spPr>
        </p:pic>
        <p:pic>
          <p:nvPicPr>
            <p:cNvPr id="254" name="Google Shape;254;p19"/>
            <p:cNvPicPr preferRelativeResize="0"/>
            <p:nvPr/>
          </p:nvPicPr>
          <p:blipFill rotWithShape="1">
            <a:blip r:embed="rId6">
              <a:alphaModFix/>
            </a:blip>
            <a:srcRect b="0" l="0" r="0" t="0"/>
            <a:stretch/>
          </p:blipFill>
          <p:spPr>
            <a:xfrm>
              <a:off x="6000750" y="4914900"/>
              <a:ext cx="76200" cy="762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pic>
        <p:nvPicPr>
          <p:cNvPr descr="image.png" id="259" name="Google Shape;25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0" name="Google Shape;260;p20"/>
          <p:cNvPicPr preferRelativeResize="0"/>
          <p:nvPr/>
        </p:nvPicPr>
        <p:blipFill rotWithShape="1">
          <a:blip r:embed="rId4">
            <a:alphaModFix/>
          </a:blip>
          <a:srcRect b="0" l="0" r="0" t="0"/>
          <a:stretch/>
        </p:blipFill>
        <p:spPr>
          <a:xfrm>
            <a:off x="6381750" y="1863179"/>
            <a:ext cx="5038725" cy="3619500"/>
          </a:xfrm>
          <a:prstGeom prst="rect">
            <a:avLst/>
          </a:prstGeom>
          <a:noFill/>
          <a:ln>
            <a:noFill/>
          </a:ln>
        </p:spPr>
      </p:pic>
      <p:sp>
        <p:nvSpPr>
          <p:cNvPr id="261" name="Google Shape;261;p20"/>
          <p:cNvSpPr txBox="1"/>
          <p:nvPr/>
        </p:nvSpPr>
        <p:spPr>
          <a:xfrm>
            <a:off x="1104900" y="1863179"/>
            <a:ext cx="47053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Arimo"/>
                <a:ea typeface="Arimo"/>
                <a:cs typeface="Arimo"/>
                <a:sym typeface="Arimo"/>
              </a:rPr>
              <a:t>Open the App:</a:t>
            </a:r>
            <a:r>
              <a:rPr b="0" i="0" lang="en-US" sz="1350" u="none" cap="none" strike="noStrike">
                <a:solidFill>
                  <a:srgbClr val="334155"/>
                </a:solidFill>
                <a:latin typeface="Arimo"/>
                <a:ea typeface="Arimo"/>
                <a:cs typeface="Arimo"/>
                <a:sym typeface="Arimo"/>
              </a:rPr>
              <a:t> Navigate to `localhost:5000` — the office-desk UI loads.</a:t>
            </a:r>
            <a:endParaRPr/>
          </a:p>
        </p:txBody>
      </p:sp>
      <p:sp>
        <p:nvSpPr>
          <p:cNvPr id="262" name="Google Shape;262;p20"/>
          <p:cNvSpPr txBox="1"/>
          <p:nvPr/>
        </p:nvSpPr>
        <p:spPr>
          <a:xfrm>
            <a:off x="1104900" y="2554634"/>
            <a:ext cx="47053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Arimo"/>
                <a:ea typeface="Arimo"/>
                <a:cs typeface="Arimo"/>
                <a:sym typeface="Arimo"/>
              </a:rPr>
              <a:t>Ask a Question:</a:t>
            </a:r>
            <a:r>
              <a:rPr b="0" i="0" lang="en-US" sz="1350" u="none" cap="none" strike="noStrike">
                <a:solidFill>
                  <a:srgbClr val="334155"/>
                </a:solidFill>
                <a:latin typeface="Arimo"/>
                <a:ea typeface="Arimo"/>
                <a:cs typeface="Arimo"/>
                <a:sym typeface="Arimo"/>
              </a:rPr>
              <a:t> Click the 'Knowledge Base' tab and ask: "How do I book a meeting room?"</a:t>
            </a:r>
            <a:endParaRPr/>
          </a:p>
        </p:txBody>
      </p:sp>
      <p:sp>
        <p:nvSpPr>
          <p:cNvPr id="263" name="Google Shape;263;p20"/>
          <p:cNvSpPr txBox="1"/>
          <p:nvPr/>
        </p:nvSpPr>
        <p:spPr>
          <a:xfrm>
            <a:off x="1104900" y="3246090"/>
            <a:ext cx="47053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Arimo"/>
                <a:ea typeface="Arimo"/>
                <a:cs typeface="Arimo"/>
                <a:sym typeface="Arimo"/>
              </a:rPr>
              <a:t>Demonstrate RAG:</a:t>
            </a:r>
            <a:r>
              <a:rPr b="0" i="0" lang="en-US" sz="1350" u="none" cap="none" strike="noStrike">
                <a:solidFill>
                  <a:srgbClr val="334155"/>
                </a:solidFill>
                <a:latin typeface="Arimo"/>
                <a:ea typeface="Arimo"/>
                <a:cs typeface="Arimo"/>
                <a:sym typeface="Arimo"/>
              </a:rPr>
              <a:t> The answer includes source citations from the company knowledge base.</a:t>
            </a:r>
            <a:endParaRPr/>
          </a:p>
        </p:txBody>
      </p:sp>
      <p:sp>
        <p:nvSpPr>
          <p:cNvPr id="264" name="Google Shape;264;p20"/>
          <p:cNvSpPr txBox="1"/>
          <p:nvPr/>
        </p:nvSpPr>
        <p:spPr>
          <a:xfrm>
            <a:off x="1104900" y="3937545"/>
            <a:ext cx="47053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Arimo"/>
                <a:ea typeface="Arimo"/>
                <a:cs typeface="Arimo"/>
                <a:sym typeface="Arimo"/>
              </a:rPr>
              <a:t>Context Injection:</a:t>
            </a:r>
            <a:r>
              <a:rPr b="0" i="0" lang="en-US" sz="1350" u="none" cap="none" strike="noStrike">
                <a:solidFill>
                  <a:srgbClr val="334155"/>
                </a:solidFill>
                <a:latin typeface="Arimo"/>
                <a:ea typeface="Arimo"/>
                <a:cs typeface="Arimo"/>
                <a:sym typeface="Arimo"/>
              </a:rPr>
              <a:t> Switch to 'Weather &amp; Lunch'. Ask "What is the weather today?" Frontend invisibly prepends [Context: Weather].</a:t>
            </a:r>
            <a:endParaRPr/>
          </a:p>
        </p:txBody>
      </p:sp>
      <p:sp>
        <p:nvSpPr>
          <p:cNvPr id="265" name="Google Shape;265;p20"/>
          <p:cNvSpPr txBox="1"/>
          <p:nvPr/>
        </p:nvSpPr>
        <p:spPr>
          <a:xfrm>
            <a:off x="1104900" y="4903291"/>
            <a:ext cx="47053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Arimo"/>
                <a:ea typeface="Arimo"/>
                <a:cs typeface="Arimo"/>
                <a:sym typeface="Arimo"/>
              </a:rPr>
              <a:t>Visual Stamps:</a:t>
            </a:r>
            <a:r>
              <a:rPr b="0" i="0" lang="en-US" sz="1350" u="none" cap="none" strike="noStrike">
                <a:solidFill>
                  <a:srgbClr val="334155"/>
                </a:solidFill>
                <a:latin typeface="Arimo"/>
                <a:ea typeface="Arimo"/>
                <a:cs typeface="Arimo"/>
                <a:sym typeface="Arimo"/>
              </a:rPr>
              <a:t> A contextual holiday or weather stamp appears dynamically in the answer bubble based on parsing.</a:t>
            </a:r>
            <a:endParaRPr/>
          </a:p>
        </p:txBody>
      </p:sp>
      <p:pic>
        <p:nvPicPr>
          <p:cNvPr descr="image.png" id="266" name="Google Shape;266;p20"/>
          <p:cNvPicPr preferRelativeResize="0"/>
          <p:nvPr/>
        </p:nvPicPr>
        <p:blipFill rotWithShape="1">
          <a:blip r:embed="rId5">
            <a:alphaModFix/>
          </a:blip>
          <a:srcRect b="0" l="0" r="0" t="0"/>
          <a:stretch/>
        </p:blipFill>
        <p:spPr>
          <a:xfrm>
            <a:off x="6419850" y="1901279"/>
            <a:ext cx="4962525" cy="3543300"/>
          </a:xfrm>
          <a:prstGeom prst="rect">
            <a:avLst/>
          </a:prstGeom>
          <a:noFill/>
          <a:ln>
            <a:noFill/>
          </a:ln>
        </p:spPr>
      </p:pic>
      <p:pic>
        <p:nvPicPr>
          <p:cNvPr descr="image.png" id="267" name="Google Shape;267;p20"/>
          <p:cNvPicPr preferRelativeResize="0"/>
          <p:nvPr/>
        </p:nvPicPr>
        <p:blipFill rotWithShape="1">
          <a:blip r:embed="rId6">
            <a:alphaModFix/>
          </a:blip>
          <a:srcRect b="0" l="0" r="0" t="0"/>
          <a:stretch/>
        </p:blipFill>
        <p:spPr>
          <a:xfrm>
            <a:off x="771525" y="1896516"/>
            <a:ext cx="190500" cy="200025"/>
          </a:xfrm>
          <a:prstGeom prst="rect">
            <a:avLst/>
          </a:prstGeom>
          <a:noFill/>
          <a:ln>
            <a:noFill/>
          </a:ln>
        </p:spPr>
      </p:pic>
      <p:pic>
        <p:nvPicPr>
          <p:cNvPr descr="image.png" id="268" name="Google Shape;268;p20"/>
          <p:cNvPicPr preferRelativeResize="0"/>
          <p:nvPr/>
        </p:nvPicPr>
        <p:blipFill rotWithShape="1">
          <a:blip r:embed="rId7">
            <a:alphaModFix/>
          </a:blip>
          <a:srcRect b="0" l="0" r="0" t="0"/>
          <a:stretch/>
        </p:blipFill>
        <p:spPr>
          <a:xfrm>
            <a:off x="771525" y="2587972"/>
            <a:ext cx="190500" cy="200025"/>
          </a:xfrm>
          <a:prstGeom prst="rect">
            <a:avLst/>
          </a:prstGeom>
          <a:noFill/>
          <a:ln>
            <a:noFill/>
          </a:ln>
        </p:spPr>
      </p:pic>
      <p:pic>
        <p:nvPicPr>
          <p:cNvPr descr="image.png" id="269" name="Google Shape;269;p20"/>
          <p:cNvPicPr preferRelativeResize="0"/>
          <p:nvPr/>
        </p:nvPicPr>
        <p:blipFill rotWithShape="1">
          <a:blip r:embed="rId8">
            <a:alphaModFix/>
          </a:blip>
          <a:srcRect b="0" l="0" r="0" t="0"/>
          <a:stretch/>
        </p:blipFill>
        <p:spPr>
          <a:xfrm>
            <a:off x="771525" y="3279427"/>
            <a:ext cx="190500" cy="200025"/>
          </a:xfrm>
          <a:prstGeom prst="rect">
            <a:avLst/>
          </a:prstGeom>
          <a:noFill/>
          <a:ln>
            <a:noFill/>
          </a:ln>
        </p:spPr>
      </p:pic>
      <p:pic>
        <p:nvPicPr>
          <p:cNvPr descr="image.png" id="270" name="Google Shape;270;p20"/>
          <p:cNvPicPr preferRelativeResize="0"/>
          <p:nvPr/>
        </p:nvPicPr>
        <p:blipFill rotWithShape="1">
          <a:blip r:embed="rId9">
            <a:alphaModFix/>
          </a:blip>
          <a:srcRect b="0" l="0" r="0" t="0"/>
          <a:stretch/>
        </p:blipFill>
        <p:spPr>
          <a:xfrm>
            <a:off x="771525" y="3970883"/>
            <a:ext cx="238125" cy="200025"/>
          </a:xfrm>
          <a:prstGeom prst="rect">
            <a:avLst/>
          </a:prstGeom>
          <a:noFill/>
          <a:ln>
            <a:noFill/>
          </a:ln>
        </p:spPr>
      </p:pic>
      <p:pic>
        <p:nvPicPr>
          <p:cNvPr descr="image.png" id="271" name="Google Shape;271;p20"/>
          <p:cNvPicPr preferRelativeResize="0"/>
          <p:nvPr/>
        </p:nvPicPr>
        <p:blipFill rotWithShape="1">
          <a:blip r:embed="rId10">
            <a:alphaModFix/>
          </a:blip>
          <a:srcRect b="0" l="0" r="0" t="0"/>
          <a:stretch/>
        </p:blipFill>
        <p:spPr>
          <a:xfrm>
            <a:off x="771525" y="4936628"/>
            <a:ext cx="190500" cy="200025"/>
          </a:xfrm>
          <a:prstGeom prst="rect">
            <a:avLst/>
          </a:prstGeom>
          <a:noFill/>
          <a:ln>
            <a:noFill/>
          </a:ln>
        </p:spPr>
      </p:pic>
      <p:sp>
        <p:nvSpPr>
          <p:cNvPr id="272" name="Google Shape;272;p20"/>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Azeret Mono"/>
                <a:ea typeface="Azeret Mono"/>
                <a:cs typeface="Azeret Mono"/>
                <a:sym typeface="Azeret Mono"/>
              </a:rPr>
              <a:t>Live Demo</a:t>
            </a:r>
            <a:endParaRPr/>
          </a:p>
        </p:txBody>
      </p:sp>
      <p:sp>
        <p:nvSpPr>
          <p:cNvPr id="273" name="Google Shape;273;p20"/>
          <p:cNvSpPr/>
          <p:nvPr/>
        </p:nvSpPr>
        <p:spPr>
          <a:xfrm>
            <a:off x="771525" y="1162050"/>
            <a:ext cx="10648950" cy="1905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9" name="Google Shape;279;p21"/>
          <p:cNvSpPr txBox="1"/>
          <p:nvPr/>
        </p:nvSpPr>
        <p:spPr>
          <a:xfrm>
            <a:off x="762000" y="476250"/>
            <a:ext cx="1066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300"/>
              </a:spcAft>
              <a:buNone/>
            </a:pPr>
            <a:r>
              <a:rPr b="1" lang="en-US" sz="3600">
                <a:solidFill>
                  <a:srgbClr val="0F172A"/>
                </a:solidFill>
                <a:latin typeface="Azeret Mono"/>
                <a:ea typeface="Azeret Mono"/>
                <a:cs typeface="Azeret Mono"/>
                <a:sym typeface="Azeret Mono"/>
              </a:rPr>
              <a:t>What Works Well</a:t>
            </a:r>
            <a:endParaRPr b="1" sz="3600">
              <a:solidFill>
                <a:srgbClr val="0F172A"/>
              </a:solidFill>
              <a:latin typeface="Azeret Mono"/>
              <a:ea typeface="Azeret Mono"/>
              <a:cs typeface="Azeret Mono"/>
              <a:sym typeface="Azeret Mono"/>
            </a:endParaRPr>
          </a:p>
        </p:txBody>
      </p:sp>
      <p:sp>
        <p:nvSpPr>
          <p:cNvPr id="280" name="Google Shape;280;p21"/>
          <p:cNvSpPr/>
          <p:nvPr/>
        </p:nvSpPr>
        <p:spPr>
          <a:xfrm>
            <a:off x="762000" y="1333500"/>
            <a:ext cx="106680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81" name="Google Shape;281;p21"/>
          <p:cNvGrpSpPr/>
          <p:nvPr/>
        </p:nvGrpSpPr>
        <p:grpSpPr>
          <a:xfrm>
            <a:off x="762000" y="1619250"/>
            <a:ext cx="3333900" cy="2095500"/>
            <a:chOff x="762000" y="1619250"/>
            <a:chExt cx="3333900" cy="2095500"/>
          </a:xfrm>
        </p:grpSpPr>
        <p:sp>
          <p:nvSpPr>
            <p:cNvPr id="282" name="Google Shape;282;p21"/>
            <p:cNvSpPr/>
            <p:nvPr/>
          </p:nvSpPr>
          <p:spPr>
            <a:xfrm>
              <a:off x="762000" y="1619250"/>
              <a:ext cx="33339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1"/>
            <p:cNvSpPr txBox="1"/>
            <p:nvPr/>
          </p:nvSpPr>
          <p:spPr>
            <a:xfrm>
              <a:off x="1000125" y="189242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library_books</a:t>
              </a:r>
              <a:endParaRPr sz="2400">
                <a:solidFill>
                  <a:srgbClr val="2563EB"/>
                </a:solidFill>
                <a:latin typeface="Material Icons"/>
                <a:ea typeface="Material Icons"/>
                <a:cs typeface="Material Icons"/>
                <a:sym typeface="Material Icons"/>
              </a:endParaRPr>
            </a:p>
          </p:txBody>
        </p:sp>
        <p:sp>
          <p:nvSpPr>
            <p:cNvPr id="284" name="Google Shape;284;p21"/>
            <p:cNvSpPr txBox="1"/>
            <p:nvPr/>
          </p:nvSpPr>
          <p:spPr>
            <a:xfrm>
              <a:off x="1000125" y="2333625"/>
              <a:ext cx="2857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RAG with real documents</a:t>
              </a:r>
              <a:endParaRPr b="1" sz="1600">
                <a:solidFill>
                  <a:srgbClr val="0F172A"/>
                </a:solidFill>
                <a:latin typeface="Arimo"/>
                <a:ea typeface="Arimo"/>
                <a:cs typeface="Arimo"/>
                <a:sym typeface="Arimo"/>
              </a:endParaRPr>
            </a:p>
            <a:p>
              <a:pPr indent="0" lvl="0" marL="0" rtl="0" algn="l">
                <a:spcBef>
                  <a:spcPts val="300"/>
                </a:spcBef>
                <a:spcAft>
                  <a:spcPts val="300"/>
                </a:spcAft>
                <a:buNone/>
              </a:pPr>
              <a:r>
                <a:rPr b="0" lang="en-US" sz="1300">
                  <a:solidFill>
                    <a:srgbClr val="475569"/>
                  </a:solidFill>
                  <a:latin typeface="Arimo"/>
                  <a:ea typeface="Arimo"/>
                  <a:cs typeface="Arimo"/>
                  <a:sym typeface="Arimo"/>
                </a:rPr>
                <a:t>Bedrock Agent retrieves accurate, source-cited answers from the knowledge base; citations show the exact document source.</a:t>
              </a:r>
              <a:endParaRPr b="0" sz="1300">
                <a:solidFill>
                  <a:srgbClr val="475569"/>
                </a:solidFill>
                <a:latin typeface="Arimo"/>
                <a:ea typeface="Arimo"/>
                <a:cs typeface="Arimo"/>
                <a:sym typeface="Arimo"/>
              </a:endParaRPr>
            </a:p>
          </p:txBody>
        </p:sp>
      </p:grpSp>
      <p:grpSp>
        <p:nvGrpSpPr>
          <p:cNvPr id="285" name="Google Shape;285;p21"/>
          <p:cNvGrpSpPr/>
          <p:nvPr/>
        </p:nvGrpSpPr>
        <p:grpSpPr>
          <a:xfrm>
            <a:off x="4429125" y="1619250"/>
            <a:ext cx="3333900" cy="2095500"/>
            <a:chOff x="4429125" y="1619250"/>
            <a:chExt cx="3333900" cy="2095500"/>
          </a:xfrm>
        </p:grpSpPr>
        <p:sp>
          <p:nvSpPr>
            <p:cNvPr id="286" name="Google Shape;286;p21"/>
            <p:cNvSpPr/>
            <p:nvPr/>
          </p:nvSpPr>
          <p:spPr>
            <a:xfrm>
              <a:off x="4429125" y="1619250"/>
              <a:ext cx="33339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1"/>
            <p:cNvSpPr txBox="1"/>
            <p:nvPr/>
          </p:nvSpPr>
          <p:spPr>
            <a:xfrm>
              <a:off x="4667250" y="189242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10B981"/>
                  </a:solidFill>
                  <a:latin typeface="Material Icons"/>
                  <a:ea typeface="Material Icons"/>
                  <a:cs typeface="Material Icons"/>
                  <a:sym typeface="Material Icons"/>
                </a:rPr>
                <a:t>alt_route</a:t>
              </a:r>
              <a:endParaRPr sz="2400">
                <a:solidFill>
                  <a:srgbClr val="10B981"/>
                </a:solidFill>
                <a:latin typeface="Material Icons"/>
                <a:ea typeface="Material Icons"/>
                <a:cs typeface="Material Icons"/>
                <a:sym typeface="Material Icons"/>
              </a:endParaRPr>
            </a:p>
          </p:txBody>
        </p:sp>
        <p:sp>
          <p:nvSpPr>
            <p:cNvPr id="288" name="Google Shape;288;p21"/>
            <p:cNvSpPr txBox="1"/>
            <p:nvPr/>
          </p:nvSpPr>
          <p:spPr>
            <a:xfrm>
              <a:off x="4667250" y="2333625"/>
              <a:ext cx="2857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Intelligent Routing</a:t>
              </a:r>
              <a:endParaRPr b="1" sz="1600">
                <a:solidFill>
                  <a:srgbClr val="0F172A"/>
                </a:solidFill>
                <a:latin typeface="Arimo"/>
                <a:ea typeface="Arimo"/>
                <a:cs typeface="Arimo"/>
                <a:sym typeface="Arimo"/>
              </a:endParaRPr>
            </a:p>
            <a:p>
              <a:pPr indent="0" lvl="0" marL="0" rtl="0" algn="l">
                <a:spcBef>
                  <a:spcPts val="300"/>
                </a:spcBef>
                <a:spcAft>
                  <a:spcPts val="300"/>
                </a:spcAft>
                <a:buNone/>
              </a:pPr>
              <a:r>
                <a:rPr b="0" lang="en-US" sz="1300">
                  <a:solidFill>
                    <a:srgbClr val="475569"/>
                  </a:solidFill>
                  <a:latin typeface="Arimo"/>
                  <a:ea typeface="Arimo"/>
                  <a:cs typeface="Arimo"/>
                  <a:sym typeface="Arimo"/>
                </a:rPr>
                <a:t>The application dynamically analyzes the user's question to determine exactly which service, tool, or data source to invoke in real-time.</a:t>
              </a:r>
              <a:endParaRPr b="0" sz="1300">
                <a:solidFill>
                  <a:srgbClr val="475569"/>
                </a:solidFill>
                <a:latin typeface="Arimo"/>
                <a:ea typeface="Arimo"/>
                <a:cs typeface="Arimo"/>
                <a:sym typeface="Arimo"/>
              </a:endParaRPr>
            </a:p>
          </p:txBody>
        </p:sp>
      </p:grpSp>
      <p:grpSp>
        <p:nvGrpSpPr>
          <p:cNvPr id="289" name="Google Shape;289;p21"/>
          <p:cNvGrpSpPr/>
          <p:nvPr/>
        </p:nvGrpSpPr>
        <p:grpSpPr>
          <a:xfrm>
            <a:off x="8096250" y="1619250"/>
            <a:ext cx="3333900" cy="2095500"/>
            <a:chOff x="8096250" y="1619250"/>
            <a:chExt cx="3333900" cy="2095500"/>
          </a:xfrm>
        </p:grpSpPr>
        <p:sp>
          <p:nvSpPr>
            <p:cNvPr id="290" name="Google Shape;290;p21"/>
            <p:cNvSpPr/>
            <p:nvPr/>
          </p:nvSpPr>
          <p:spPr>
            <a:xfrm>
              <a:off x="8096250" y="1619250"/>
              <a:ext cx="33339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1"/>
            <p:cNvSpPr txBox="1"/>
            <p:nvPr/>
          </p:nvSpPr>
          <p:spPr>
            <a:xfrm>
              <a:off x="8334375" y="189242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8B5CF6"/>
                  </a:solidFill>
                  <a:latin typeface="Material Icons"/>
                  <a:ea typeface="Material Icons"/>
                  <a:cs typeface="Material Icons"/>
                  <a:sym typeface="Material Icons"/>
                </a:rPr>
                <a:t>account_tree</a:t>
              </a:r>
              <a:endParaRPr sz="2400">
                <a:solidFill>
                  <a:srgbClr val="8B5CF6"/>
                </a:solidFill>
                <a:latin typeface="Material Icons"/>
                <a:ea typeface="Material Icons"/>
                <a:cs typeface="Material Icons"/>
                <a:sym typeface="Material Icons"/>
              </a:endParaRPr>
            </a:p>
          </p:txBody>
        </p:sp>
        <p:sp>
          <p:nvSpPr>
            <p:cNvPr id="292" name="Google Shape;292;p21"/>
            <p:cNvSpPr txBox="1"/>
            <p:nvPr/>
          </p:nvSpPr>
          <p:spPr>
            <a:xfrm>
              <a:off x="8334375" y="2333625"/>
              <a:ext cx="2857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Agent + Fallback Chain</a:t>
              </a:r>
              <a:endParaRPr b="1" sz="1600">
                <a:solidFill>
                  <a:srgbClr val="0F172A"/>
                </a:solidFill>
                <a:latin typeface="Arimo"/>
                <a:ea typeface="Arimo"/>
                <a:cs typeface="Arimo"/>
                <a:sym typeface="Arimo"/>
              </a:endParaRPr>
            </a:p>
            <a:p>
              <a:pPr indent="0" lvl="0" marL="0" rtl="0" algn="l">
                <a:spcBef>
                  <a:spcPts val="300"/>
                </a:spcBef>
                <a:spcAft>
                  <a:spcPts val="300"/>
                </a:spcAft>
                <a:buNone/>
              </a:pPr>
              <a:r>
                <a:rPr b="0" lang="en-US" sz="1300">
                  <a:solidFill>
                    <a:srgbClr val="475569"/>
                  </a:solidFill>
                  <a:latin typeface="Arimo"/>
                  <a:ea typeface="Arimo"/>
                  <a:cs typeface="Arimo"/>
                  <a:sym typeface="Arimo"/>
                </a:rPr>
                <a:t>If the agent declines, the app silently retries with Claude Haiku via invoke_model, ensuring the user always gets a response.</a:t>
              </a:r>
              <a:endParaRPr b="0" sz="1300">
                <a:solidFill>
                  <a:srgbClr val="475569"/>
                </a:solidFill>
                <a:latin typeface="Arimo"/>
                <a:ea typeface="Arimo"/>
                <a:cs typeface="Arimo"/>
                <a:sym typeface="Arimo"/>
              </a:endParaRPr>
            </a:p>
          </p:txBody>
        </p:sp>
      </p:grpSp>
      <p:grpSp>
        <p:nvGrpSpPr>
          <p:cNvPr id="293" name="Google Shape;293;p21"/>
          <p:cNvGrpSpPr/>
          <p:nvPr/>
        </p:nvGrpSpPr>
        <p:grpSpPr>
          <a:xfrm>
            <a:off x="2590800" y="4000500"/>
            <a:ext cx="3333900" cy="2095500"/>
            <a:chOff x="2590800" y="4000500"/>
            <a:chExt cx="3333900" cy="2095500"/>
          </a:xfrm>
        </p:grpSpPr>
        <p:sp>
          <p:nvSpPr>
            <p:cNvPr id="294" name="Google Shape;294;p21"/>
            <p:cNvSpPr/>
            <p:nvPr/>
          </p:nvSpPr>
          <p:spPr>
            <a:xfrm>
              <a:off x="2590800" y="4000500"/>
              <a:ext cx="33339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1"/>
            <p:cNvSpPr txBox="1"/>
            <p:nvPr/>
          </p:nvSpPr>
          <p:spPr>
            <a:xfrm>
              <a:off x="2828925" y="42736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F59E0B"/>
                  </a:solidFill>
                  <a:latin typeface="Material Icons"/>
                  <a:ea typeface="Material Icons"/>
                  <a:cs typeface="Material Icons"/>
                  <a:sym typeface="Material Icons"/>
                </a:rPr>
                <a:t>psychology</a:t>
              </a:r>
              <a:endParaRPr sz="2400">
                <a:solidFill>
                  <a:srgbClr val="F59E0B"/>
                </a:solidFill>
                <a:latin typeface="Material Icons"/>
                <a:ea typeface="Material Icons"/>
                <a:cs typeface="Material Icons"/>
                <a:sym typeface="Material Icons"/>
              </a:endParaRPr>
            </a:p>
          </p:txBody>
        </p:sp>
        <p:sp>
          <p:nvSpPr>
            <p:cNvPr id="296" name="Google Shape;296;p21"/>
            <p:cNvSpPr txBox="1"/>
            <p:nvPr/>
          </p:nvSpPr>
          <p:spPr>
            <a:xfrm>
              <a:off x="2828925" y="4714875"/>
              <a:ext cx="2857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Multi-turn Memory</a:t>
              </a:r>
              <a:endParaRPr b="1" sz="1600">
                <a:solidFill>
                  <a:srgbClr val="0F172A"/>
                </a:solidFill>
                <a:latin typeface="Arimo"/>
                <a:ea typeface="Arimo"/>
                <a:cs typeface="Arimo"/>
                <a:sym typeface="Arimo"/>
              </a:endParaRPr>
            </a:p>
            <a:p>
              <a:pPr indent="0" lvl="0" marL="0" rtl="0" algn="l">
                <a:spcBef>
                  <a:spcPts val="300"/>
                </a:spcBef>
                <a:spcAft>
                  <a:spcPts val="300"/>
                </a:spcAft>
                <a:buNone/>
              </a:pPr>
              <a:r>
                <a:rPr b="0" lang="en-US" sz="1300">
                  <a:solidFill>
                    <a:srgbClr val="475569"/>
                  </a:solidFill>
                  <a:latin typeface="Arimo"/>
                  <a:ea typeface="Arimo"/>
                  <a:cs typeface="Arimo"/>
                  <a:sym typeface="Arimo"/>
                </a:rPr>
                <a:t>Session-based sessionId gives the agent full context across multiple questions without needing an external database.</a:t>
              </a:r>
              <a:endParaRPr b="0" sz="1300">
                <a:solidFill>
                  <a:srgbClr val="475569"/>
                </a:solidFill>
                <a:latin typeface="Arimo"/>
                <a:ea typeface="Arimo"/>
                <a:cs typeface="Arimo"/>
                <a:sym typeface="Arimo"/>
              </a:endParaRPr>
            </a:p>
          </p:txBody>
        </p:sp>
      </p:grpSp>
      <p:grpSp>
        <p:nvGrpSpPr>
          <p:cNvPr id="297" name="Google Shape;297;p21"/>
          <p:cNvGrpSpPr/>
          <p:nvPr/>
        </p:nvGrpSpPr>
        <p:grpSpPr>
          <a:xfrm>
            <a:off x="6257925" y="4000500"/>
            <a:ext cx="3333900" cy="2095500"/>
            <a:chOff x="6257925" y="4000500"/>
            <a:chExt cx="3333900" cy="2095500"/>
          </a:xfrm>
        </p:grpSpPr>
        <p:sp>
          <p:nvSpPr>
            <p:cNvPr id="298" name="Google Shape;298;p21"/>
            <p:cNvSpPr/>
            <p:nvPr/>
          </p:nvSpPr>
          <p:spPr>
            <a:xfrm>
              <a:off x="6257925" y="4000500"/>
              <a:ext cx="33339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1"/>
            <p:cNvSpPr txBox="1"/>
            <p:nvPr/>
          </p:nvSpPr>
          <p:spPr>
            <a:xfrm>
              <a:off x="6496050" y="42736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6B6D4"/>
                  </a:solidFill>
                  <a:latin typeface="Material Icons"/>
                  <a:ea typeface="Material Icons"/>
                  <a:cs typeface="Material Icons"/>
                  <a:sym typeface="Material Icons"/>
                </a:rPr>
                <a:t>layers</a:t>
              </a:r>
              <a:endParaRPr sz="2400">
                <a:solidFill>
                  <a:srgbClr val="06B6D4"/>
                </a:solidFill>
                <a:latin typeface="Material Icons"/>
                <a:ea typeface="Material Icons"/>
                <a:cs typeface="Material Icons"/>
                <a:sym typeface="Material Icons"/>
              </a:endParaRPr>
            </a:p>
          </p:txBody>
        </p:sp>
        <p:sp>
          <p:nvSpPr>
            <p:cNvPr id="300" name="Google Shape;300;p21"/>
            <p:cNvSpPr txBox="1"/>
            <p:nvPr/>
          </p:nvSpPr>
          <p:spPr>
            <a:xfrm>
              <a:off x="6496050" y="4714875"/>
              <a:ext cx="2857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Docker Containerisation</a:t>
              </a:r>
              <a:endParaRPr b="1" sz="1600">
                <a:solidFill>
                  <a:srgbClr val="0F172A"/>
                </a:solidFill>
                <a:latin typeface="Arimo"/>
                <a:ea typeface="Arimo"/>
                <a:cs typeface="Arimo"/>
                <a:sym typeface="Arimo"/>
              </a:endParaRPr>
            </a:p>
            <a:p>
              <a:pPr indent="0" lvl="0" marL="0" rtl="0" algn="l">
                <a:spcBef>
                  <a:spcPts val="300"/>
                </a:spcBef>
                <a:spcAft>
                  <a:spcPts val="300"/>
                </a:spcAft>
                <a:buNone/>
              </a:pPr>
              <a:r>
                <a:rPr b="0" lang="en-US" sz="1300">
                  <a:solidFill>
                    <a:srgbClr val="475569"/>
                  </a:solidFill>
                  <a:latin typeface="Arimo"/>
                  <a:ea typeface="Arimo"/>
                  <a:cs typeface="Arimo"/>
                  <a:sym typeface="Arimo"/>
                </a:rPr>
                <a:t>Runs identically locally and on EC2; credentials injected at runtime and never baked into the image for security.</a:t>
              </a:r>
              <a:endParaRPr b="0" sz="1300">
                <a:solidFill>
                  <a:srgbClr val="475569"/>
                </a:solidFill>
                <a:latin typeface="Arimo"/>
                <a:ea typeface="Arimo"/>
                <a:cs typeface="Arimo"/>
                <a:sym typeface="Arim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6" name="Google Shape;306;p22"/>
          <p:cNvSpPr txBox="1"/>
          <p:nvPr/>
        </p:nvSpPr>
        <p:spPr>
          <a:xfrm>
            <a:off x="762000" y="476250"/>
            <a:ext cx="1066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F172A"/>
                </a:solidFill>
                <a:latin typeface="Azeret Mono"/>
                <a:ea typeface="Azeret Mono"/>
                <a:cs typeface="Azeret Mono"/>
                <a:sym typeface="Azeret Mono"/>
              </a:rPr>
              <a:t>What Was Technically Challenging</a:t>
            </a:r>
            <a:endParaRPr b="1" sz="3600">
              <a:solidFill>
                <a:srgbClr val="0F172A"/>
              </a:solidFill>
              <a:latin typeface="Azeret Mono"/>
              <a:ea typeface="Azeret Mono"/>
              <a:cs typeface="Azeret Mono"/>
              <a:sym typeface="Azeret Mono"/>
            </a:endParaRPr>
          </a:p>
        </p:txBody>
      </p:sp>
      <p:sp>
        <p:nvSpPr>
          <p:cNvPr id="307" name="Google Shape;307;p22"/>
          <p:cNvSpPr/>
          <p:nvPr/>
        </p:nvSpPr>
        <p:spPr>
          <a:xfrm>
            <a:off x="762000" y="1333500"/>
            <a:ext cx="106680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08" name="Google Shape;308;p22"/>
          <p:cNvGrpSpPr/>
          <p:nvPr/>
        </p:nvGrpSpPr>
        <p:grpSpPr>
          <a:xfrm>
            <a:off x="762000" y="1619250"/>
            <a:ext cx="10668000" cy="1714500"/>
            <a:chOff x="0" y="0"/>
            <a:chExt cx="10668000" cy="1714500"/>
          </a:xfrm>
        </p:grpSpPr>
        <p:sp>
          <p:nvSpPr>
            <p:cNvPr id="309" name="Google Shape;309;p22"/>
            <p:cNvSpPr/>
            <p:nvPr/>
          </p:nvSpPr>
          <p:spPr>
            <a:xfrm>
              <a:off x="0" y="0"/>
              <a:ext cx="10668000" cy="17145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2"/>
            <p:cNvSpPr/>
            <p:nvPr/>
          </p:nvSpPr>
          <p:spPr>
            <a:xfrm>
              <a:off x="0" y="0"/>
              <a:ext cx="10668000" cy="571500"/>
            </a:xfrm>
            <a:prstGeom prst="roundRect">
              <a:avLst>
                <a:gd fmla="val 26666"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2"/>
            <p:cNvSpPr/>
            <p:nvPr/>
          </p:nvSpPr>
          <p:spPr>
            <a:xfrm>
              <a:off x="0" y="381000"/>
              <a:ext cx="10668000" cy="1905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2"/>
            <p:cNvSpPr txBox="1"/>
            <p:nvPr/>
          </p:nvSpPr>
          <p:spPr>
            <a:xfrm>
              <a:off x="190500" y="47625"/>
              <a:ext cx="10287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Azeret Mono"/>
                  <a:ea typeface="Azeret Mono"/>
                  <a:cs typeface="Azeret Mono"/>
                  <a:sym typeface="Azeret Mono"/>
                </a:rPr>
                <a:t>Architecture &amp; Vision</a:t>
              </a:r>
              <a:endParaRPr b="1" sz="2000">
                <a:solidFill>
                  <a:srgbClr val="FFFFFF"/>
                </a:solidFill>
                <a:latin typeface="Azeret Mono"/>
                <a:ea typeface="Azeret Mono"/>
                <a:cs typeface="Azeret Mono"/>
                <a:sym typeface="Azeret Mono"/>
              </a:endParaRPr>
            </a:p>
          </p:txBody>
        </p:sp>
        <p:sp>
          <p:nvSpPr>
            <p:cNvPr id="313" name="Google Shape;313;p22"/>
            <p:cNvSpPr txBox="1"/>
            <p:nvPr/>
          </p:nvSpPr>
          <p:spPr>
            <a:xfrm>
              <a:off x="285750" y="714375"/>
              <a:ext cx="10096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300">
                  <a:solidFill>
                    <a:srgbClr val="475569"/>
                  </a:solidFill>
                  <a:latin typeface="Arimo"/>
                  <a:ea typeface="Arimo"/>
                  <a:cs typeface="Arimo"/>
                  <a:sym typeface="Arimo"/>
                </a:rPr>
                <a:t>One of the main challenges was maintaining the big picture throughout the entire development process — understanding the full architecture while still staying focused on solving the original problem. Balancing high-level system design with implementation details required continuous adjustments and careful planning.</a:t>
              </a:r>
              <a:endParaRPr b="0" sz="1300">
                <a:solidFill>
                  <a:srgbClr val="475569"/>
                </a:solidFill>
                <a:latin typeface="Arimo"/>
                <a:ea typeface="Arimo"/>
                <a:cs typeface="Arimo"/>
                <a:sym typeface="Arimo"/>
              </a:endParaRPr>
            </a:p>
          </p:txBody>
        </p:sp>
      </p:grpSp>
      <p:grpSp>
        <p:nvGrpSpPr>
          <p:cNvPr id="314" name="Google Shape;314;p22"/>
          <p:cNvGrpSpPr/>
          <p:nvPr/>
        </p:nvGrpSpPr>
        <p:grpSpPr>
          <a:xfrm>
            <a:off x="762000" y="3524250"/>
            <a:ext cx="5238900" cy="2667000"/>
            <a:chOff x="0" y="0"/>
            <a:chExt cx="5238900" cy="2667000"/>
          </a:xfrm>
        </p:grpSpPr>
        <p:sp>
          <p:nvSpPr>
            <p:cNvPr id="315" name="Google Shape;315;p22"/>
            <p:cNvSpPr/>
            <p:nvPr/>
          </p:nvSpPr>
          <p:spPr>
            <a:xfrm>
              <a:off x="0" y="0"/>
              <a:ext cx="5238900" cy="26670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2"/>
            <p:cNvSpPr txBox="1"/>
            <p:nvPr/>
          </p:nvSpPr>
          <p:spPr>
            <a:xfrm>
              <a:off x="238125" y="273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EF4444"/>
                  </a:solidFill>
                  <a:latin typeface="Material Icons"/>
                  <a:ea typeface="Material Icons"/>
                  <a:cs typeface="Material Icons"/>
                  <a:sym typeface="Material Icons"/>
                </a:rPr>
                <a:t>terminal</a:t>
              </a:r>
              <a:endParaRPr sz="2400">
                <a:solidFill>
                  <a:srgbClr val="EF4444"/>
                </a:solidFill>
                <a:latin typeface="Material Icons"/>
                <a:ea typeface="Material Icons"/>
                <a:cs typeface="Material Icons"/>
                <a:sym typeface="Material Icons"/>
              </a:endParaRPr>
            </a:p>
          </p:txBody>
        </p:sp>
        <p:sp>
          <p:nvSpPr>
            <p:cNvPr id="317" name="Google Shape;317;p22"/>
            <p:cNvSpPr txBox="1"/>
            <p:nvPr/>
          </p:nvSpPr>
          <p:spPr>
            <a:xfrm>
              <a:off x="238125" y="714375"/>
              <a:ext cx="4762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EventStream Parsing</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invoke_agent returns complex streams with chunk, trace, and returnControl types. Answer text is deeply nested, and citations are buried within </a:t>
              </a:r>
              <a:r>
                <a:rPr b="0" lang="en-US" sz="1300">
                  <a:solidFill>
                    <a:srgbClr val="475569"/>
                  </a:solidFill>
                  <a:highlight>
                    <a:srgbClr val="F1F5F9"/>
                  </a:highlight>
                  <a:latin typeface="Arial"/>
                  <a:ea typeface="Arial"/>
                  <a:cs typeface="Arial"/>
                  <a:sym typeface="Arial"/>
                </a:rPr>
                <a:t>retrievedReferences</a:t>
              </a:r>
              <a:r>
                <a:rPr b="0" lang="en-US" sz="1300">
                  <a:solidFill>
                    <a:srgbClr val="475569"/>
                  </a:solidFill>
                  <a:latin typeface="Arimo"/>
                  <a:ea typeface="Arimo"/>
                  <a:cs typeface="Arimo"/>
                  <a:sym typeface="Arimo"/>
                </a:rPr>
                <a:t>, requiring complex iteration to extract grounding data accurately.</a:t>
              </a:r>
              <a:endParaRPr b="0" sz="1300">
                <a:solidFill>
                  <a:srgbClr val="475569"/>
                </a:solidFill>
                <a:latin typeface="Arimo"/>
                <a:ea typeface="Arimo"/>
                <a:cs typeface="Arimo"/>
                <a:sym typeface="Arimo"/>
              </a:endParaRPr>
            </a:p>
          </p:txBody>
        </p:sp>
      </p:grpSp>
      <p:grpSp>
        <p:nvGrpSpPr>
          <p:cNvPr id="318" name="Google Shape;318;p22"/>
          <p:cNvGrpSpPr/>
          <p:nvPr/>
        </p:nvGrpSpPr>
        <p:grpSpPr>
          <a:xfrm>
            <a:off x="6191250" y="3524250"/>
            <a:ext cx="5238900" cy="2667000"/>
            <a:chOff x="0" y="0"/>
            <a:chExt cx="5238900" cy="2667000"/>
          </a:xfrm>
        </p:grpSpPr>
        <p:sp>
          <p:nvSpPr>
            <p:cNvPr id="319" name="Google Shape;319;p22"/>
            <p:cNvSpPr/>
            <p:nvPr/>
          </p:nvSpPr>
          <p:spPr>
            <a:xfrm>
              <a:off x="0" y="0"/>
              <a:ext cx="5238900" cy="26670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2"/>
            <p:cNvSpPr txBox="1"/>
            <p:nvPr/>
          </p:nvSpPr>
          <p:spPr>
            <a:xfrm>
              <a:off x="238125" y="273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F59E0B"/>
                  </a:solidFill>
                  <a:latin typeface="Material Icons"/>
                  <a:ea typeface="Material Icons"/>
                  <a:cs typeface="Material Icons"/>
                  <a:sym typeface="Material Icons"/>
                </a:rPr>
                <a:t>sync_alt</a:t>
              </a:r>
              <a:endParaRPr sz="2400">
                <a:solidFill>
                  <a:srgbClr val="F59E0B"/>
                </a:solidFill>
                <a:latin typeface="Material Icons"/>
                <a:ea typeface="Material Icons"/>
                <a:cs typeface="Material Icons"/>
                <a:sym typeface="Material Icons"/>
              </a:endParaRPr>
            </a:p>
          </p:txBody>
        </p:sp>
        <p:sp>
          <p:nvSpPr>
            <p:cNvPr id="321" name="Google Shape;321;p22"/>
            <p:cNvSpPr txBox="1"/>
            <p:nvPr/>
          </p:nvSpPr>
          <p:spPr>
            <a:xfrm>
              <a:off x="238125" y="714375"/>
              <a:ext cx="4762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Session Ownership Collision</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Switching between APIs broke memory state as </a:t>
              </a:r>
              <a:r>
                <a:rPr b="0" lang="en-US" sz="1300">
                  <a:solidFill>
                    <a:srgbClr val="475569"/>
                  </a:solidFill>
                  <a:highlight>
                    <a:srgbClr val="F1F5F9"/>
                  </a:highlight>
                  <a:latin typeface="Arial"/>
                  <a:ea typeface="Arial"/>
                  <a:cs typeface="Arial"/>
                  <a:sym typeface="Arial"/>
                </a:rPr>
                <a:t>retrieve_and_generate</a:t>
              </a:r>
              <a:r>
                <a:rPr b="0" lang="en-US" sz="1300">
                  <a:solidFill>
                    <a:srgbClr val="475569"/>
                  </a:solidFill>
                  <a:latin typeface="Arimo"/>
                  <a:ea typeface="Arimo"/>
                  <a:cs typeface="Arimo"/>
                  <a:sym typeface="Arimo"/>
                </a:rPr>
                <a:t> returns IDs while </a:t>
              </a:r>
              <a:r>
                <a:rPr b="0" lang="en-US" sz="1300">
                  <a:solidFill>
                    <a:srgbClr val="475569"/>
                  </a:solidFill>
                  <a:highlight>
                    <a:srgbClr val="F1F5F9"/>
                  </a:highlight>
                  <a:latin typeface="Arial"/>
                  <a:ea typeface="Arial"/>
                  <a:cs typeface="Arial"/>
                  <a:sym typeface="Arial"/>
                </a:rPr>
                <a:t>invoke_agent</a:t>
              </a:r>
              <a:r>
                <a:rPr b="0" lang="en-US" sz="1300">
                  <a:solidFill>
                    <a:srgbClr val="475569"/>
                  </a:solidFill>
                  <a:latin typeface="Arimo"/>
                  <a:ea typeface="Arimo"/>
                  <a:cs typeface="Arimo"/>
                  <a:sym typeface="Arimo"/>
                </a:rPr>
                <a:t> expects them. Resolved by implementing custom caller-generated session IDs using hex tokens.</a:t>
              </a:r>
              <a:endParaRPr b="0" sz="1300">
                <a:solidFill>
                  <a:srgbClr val="475569"/>
                </a:solidFill>
                <a:latin typeface="Arimo"/>
                <a:ea typeface="Arimo"/>
                <a:cs typeface="Arimo"/>
                <a:sym typeface="Arim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7" name="Google Shape;327;p23"/>
          <p:cNvSpPr txBox="1"/>
          <p:nvPr/>
        </p:nvSpPr>
        <p:spPr>
          <a:xfrm>
            <a:off x="762000" y="476250"/>
            <a:ext cx="1066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060">
                <a:solidFill>
                  <a:srgbClr val="0F172A"/>
                </a:solidFill>
                <a:latin typeface="Azeret Mono"/>
                <a:ea typeface="Azeret Mono"/>
                <a:cs typeface="Azeret Mono"/>
                <a:sym typeface="Azeret Mono"/>
              </a:rPr>
              <a:t>What Would Be Improved in the Next Version</a:t>
            </a:r>
            <a:endParaRPr b="1" sz="3060">
              <a:solidFill>
                <a:srgbClr val="0F172A"/>
              </a:solidFill>
              <a:latin typeface="Azeret Mono"/>
              <a:ea typeface="Azeret Mono"/>
              <a:cs typeface="Azeret Mono"/>
              <a:sym typeface="Azeret Mono"/>
            </a:endParaRPr>
          </a:p>
        </p:txBody>
      </p:sp>
      <p:sp>
        <p:nvSpPr>
          <p:cNvPr id="328" name="Google Shape;328;p23"/>
          <p:cNvSpPr/>
          <p:nvPr/>
        </p:nvSpPr>
        <p:spPr>
          <a:xfrm>
            <a:off x="762000" y="1333500"/>
            <a:ext cx="10668000" cy="192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9" name="Google Shape;329;p23"/>
          <p:cNvGrpSpPr/>
          <p:nvPr/>
        </p:nvGrpSpPr>
        <p:grpSpPr>
          <a:xfrm>
            <a:off x="762000" y="1619250"/>
            <a:ext cx="10668000" cy="1428900"/>
            <a:chOff x="0" y="0"/>
            <a:chExt cx="10668000" cy="1428900"/>
          </a:xfrm>
        </p:grpSpPr>
        <p:sp>
          <p:nvSpPr>
            <p:cNvPr id="330" name="Google Shape;330;p23"/>
            <p:cNvSpPr/>
            <p:nvPr/>
          </p:nvSpPr>
          <p:spPr>
            <a:xfrm>
              <a:off x="0" y="0"/>
              <a:ext cx="10668000" cy="1428900"/>
            </a:xfrm>
            <a:prstGeom prst="roundRect">
              <a:avLst>
                <a:gd fmla="val 10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3"/>
            <p:cNvSpPr/>
            <p:nvPr/>
          </p:nvSpPr>
          <p:spPr>
            <a:xfrm>
              <a:off x="0" y="0"/>
              <a:ext cx="10668000" cy="476400"/>
            </a:xfrm>
            <a:prstGeom prst="roundRect">
              <a:avLst>
                <a:gd fmla="val 32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3"/>
            <p:cNvSpPr/>
            <p:nvPr/>
          </p:nvSpPr>
          <p:spPr>
            <a:xfrm>
              <a:off x="0" y="285750"/>
              <a:ext cx="10668000" cy="1905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3"/>
            <p:cNvSpPr txBox="1"/>
            <p:nvPr/>
          </p:nvSpPr>
          <p:spPr>
            <a:xfrm>
              <a:off x="190500" y="0"/>
              <a:ext cx="10287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Azeret Mono"/>
                  <a:ea typeface="Azeret Mono"/>
                  <a:cs typeface="Azeret Mono"/>
                  <a:sym typeface="Azeret Mono"/>
                </a:rPr>
                <a:t>Scalability &amp; Modular Architecture</a:t>
              </a:r>
              <a:endParaRPr b="1" sz="2000">
                <a:solidFill>
                  <a:srgbClr val="FFFFFF"/>
                </a:solidFill>
                <a:latin typeface="Azeret Mono"/>
                <a:ea typeface="Azeret Mono"/>
                <a:cs typeface="Azeret Mono"/>
                <a:sym typeface="Azeret Mono"/>
              </a:endParaRPr>
            </a:p>
          </p:txBody>
        </p:sp>
        <p:sp>
          <p:nvSpPr>
            <p:cNvPr id="334" name="Google Shape;334;p23"/>
            <p:cNvSpPr txBox="1"/>
            <p:nvPr/>
          </p:nvSpPr>
          <p:spPr>
            <a:xfrm>
              <a:off x="285750" y="619125"/>
              <a:ext cx="100965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300">
                  <a:solidFill>
                    <a:srgbClr val="475569"/>
                  </a:solidFill>
                  <a:latin typeface="Arimo"/>
                  <a:ea typeface="Arimo"/>
                  <a:cs typeface="Arimo"/>
                  <a:sym typeface="Arimo"/>
                </a:rPr>
                <a:t>The primary goal is to allow any dataset uploaded as a RAG knowledge base to be automatically integrated as an application dataset. This enables the platform to support multiple organizations, each with its own customized dataset and knowledge domain, making the system adaptable to different companies and use cases.</a:t>
              </a:r>
              <a:endParaRPr b="0" sz="1300">
                <a:solidFill>
                  <a:srgbClr val="475569"/>
                </a:solidFill>
                <a:latin typeface="Arimo"/>
                <a:ea typeface="Arimo"/>
                <a:cs typeface="Arimo"/>
                <a:sym typeface="Arimo"/>
              </a:endParaRPr>
            </a:p>
          </p:txBody>
        </p:sp>
      </p:grpSp>
      <p:grpSp>
        <p:nvGrpSpPr>
          <p:cNvPr id="335" name="Google Shape;335;p23"/>
          <p:cNvGrpSpPr/>
          <p:nvPr/>
        </p:nvGrpSpPr>
        <p:grpSpPr>
          <a:xfrm>
            <a:off x="762000" y="3238500"/>
            <a:ext cx="5238900" cy="1524000"/>
            <a:chOff x="0" y="0"/>
            <a:chExt cx="5238900" cy="1524000"/>
          </a:xfrm>
        </p:grpSpPr>
        <p:sp>
          <p:nvSpPr>
            <p:cNvPr id="336" name="Google Shape;336;p23"/>
            <p:cNvSpPr/>
            <p:nvPr/>
          </p:nvSpPr>
          <p:spPr>
            <a:xfrm>
              <a:off x="0" y="0"/>
              <a:ext cx="52389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3"/>
            <p:cNvSpPr txBox="1"/>
            <p:nvPr/>
          </p:nvSpPr>
          <p:spPr>
            <a:xfrm>
              <a:off x="238125" y="2255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vpn_key</a:t>
              </a:r>
              <a:endParaRPr sz="2400">
                <a:solidFill>
                  <a:srgbClr val="2563EB"/>
                </a:solidFill>
                <a:latin typeface="Material Icons"/>
                <a:ea typeface="Material Icons"/>
                <a:cs typeface="Material Icons"/>
                <a:sym typeface="Material Icons"/>
              </a:endParaRPr>
            </a:p>
          </p:txBody>
        </p:sp>
        <p:sp>
          <p:nvSpPr>
            <p:cNvPr id="338" name="Google Shape;338;p23"/>
            <p:cNvSpPr txBox="1"/>
            <p:nvPr/>
          </p:nvSpPr>
          <p:spPr>
            <a:xfrm>
              <a:off x="762000" y="190500"/>
              <a:ext cx="428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User Authentication (SSO)</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Integration of employee SSO to tie conversation history to unique identities rather than browser sessions, ensuring security and personalization.</a:t>
              </a:r>
              <a:endParaRPr b="0" sz="1300">
                <a:solidFill>
                  <a:srgbClr val="475569"/>
                </a:solidFill>
                <a:latin typeface="Arimo"/>
                <a:ea typeface="Arimo"/>
                <a:cs typeface="Arimo"/>
                <a:sym typeface="Arimo"/>
              </a:endParaRPr>
            </a:p>
          </p:txBody>
        </p:sp>
      </p:grpSp>
      <p:grpSp>
        <p:nvGrpSpPr>
          <p:cNvPr id="339" name="Google Shape;339;p23"/>
          <p:cNvGrpSpPr/>
          <p:nvPr/>
        </p:nvGrpSpPr>
        <p:grpSpPr>
          <a:xfrm>
            <a:off x="6191250" y="3238500"/>
            <a:ext cx="5238900" cy="1524000"/>
            <a:chOff x="0" y="0"/>
            <a:chExt cx="5238900" cy="1524000"/>
          </a:xfrm>
        </p:grpSpPr>
        <p:sp>
          <p:nvSpPr>
            <p:cNvPr id="340" name="Google Shape;340;p23"/>
            <p:cNvSpPr/>
            <p:nvPr/>
          </p:nvSpPr>
          <p:spPr>
            <a:xfrm>
              <a:off x="0" y="0"/>
              <a:ext cx="52389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3"/>
            <p:cNvSpPr txBox="1"/>
            <p:nvPr/>
          </p:nvSpPr>
          <p:spPr>
            <a:xfrm>
              <a:off x="238125" y="2255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F59E0B"/>
                  </a:solidFill>
                  <a:latin typeface="Material Icons"/>
                  <a:ea typeface="Material Icons"/>
                  <a:cs typeface="Material Icons"/>
                  <a:sym typeface="Material Icons"/>
                </a:rPr>
                <a:t>history</a:t>
              </a:r>
              <a:endParaRPr sz="2400">
                <a:solidFill>
                  <a:srgbClr val="F59E0B"/>
                </a:solidFill>
                <a:latin typeface="Material Icons"/>
                <a:ea typeface="Material Icons"/>
                <a:cs typeface="Material Icons"/>
                <a:sym typeface="Material Icons"/>
              </a:endParaRPr>
            </a:p>
          </p:txBody>
        </p:sp>
        <p:sp>
          <p:nvSpPr>
            <p:cNvPr id="342" name="Google Shape;342;p23"/>
            <p:cNvSpPr txBox="1"/>
            <p:nvPr/>
          </p:nvSpPr>
          <p:spPr>
            <a:xfrm>
              <a:off x="762000" y="190500"/>
              <a:ext cx="428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Persistent Chat History</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Storage of full chat threads allowing employees to resume previous discussions and providing HR with auditing capabilities for generated answers.</a:t>
              </a:r>
              <a:endParaRPr b="0" sz="1300">
                <a:solidFill>
                  <a:srgbClr val="475569"/>
                </a:solidFill>
                <a:latin typeface="Arimo"/>
                <a:ea typeface="Arimo"/>
                <a:cs typeface="Arimo"/>
                <a:sym typeface="Arimo"/>
              </a:endParaRPr>
            </a:p>
          </p:txBody>
        </p:sp>
      </p:grpSp>
      <p:grpSp>
        <p:nvGrpSpPr>
          <p:cNvPr id="343" name="Google Shape;343;p23"/>
          <p:cNvGrpSpPr/>
          <p:nvPr/>
        </p:nvGrpSpPr>
        <p:grpSpPr>
          <a:xfrm>
            <a:off x="762000" y="4953000"/>
            <a:ext cx="5238900" cy="1524000"/>
            <a:chOff x="0" y="0"/>
            <a:chExt cx="5238900" cy="1524000"/>
          </a:xfrm>
        </p:grpSpPr>
        <p:sp>
          <p:nvSpPr>
            <p:cNvPr id="344" name="Google Shape;344;p23"/>
            <p:cNvSpPr/>
            <p:nvPr/>
          </p:nvSpPr>
          <p:spPr>
            <a:xfrm>
              <a:off x="0" y="0"/>
              <a:ext cx="52389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3"/>
            <p:cNvSpPr txBox="1"/>
            <p:nvPr/>
          </p:nvSpPr>
          <p:spPr>
            <a:xfrm>
              <a:off x="238125" y="2255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8B5CF6"/>
                  </a:solidFill>
                  <a:latin typeface="Material Icons"/>
                  <a:ea typeface="Material Icons"/>
                  <a:cs typeface="Material Icons"/>
                  <a:sym typeface="Material Icons"/>
                </a:rPr>
                <a:t>library_add</a:t>
              </a:r>
              <a:endParaRPr sz="2400">
                <a:solidFill>
                  <a:srgbClr val="8B5CF6"/>
                </a:solidFill>
                <a:latin typeface="Material Icons"/>
                <a:ea typeface="Material Icons"/>
                <a:cs typeface="Material Icons"/>
                <a:sym typeface="Material Icons"/>
              </a:endParaRPr>
            </a:p>
          </p:txBody>
        </p:sp>
        <p:sp>
          <p:nvSpPr>
            <p:cNvPr id="346" name="Google Shape;346;p23"/>
            <p:cNvSpPr txBox="1"/>
            <p:nvPr/>
          </p:nvSpPr>
          <p:spPr>
            <a:xfrm>
              <a:off x="762000" y="190500"/>
              <a:ext cx="428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Expanded Knowledge Base</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Automated S3 sync for benefits handbooks and org charts, ensuring the knowledge base stays current without requiring manual redeployments.</a:t>
              </a:r>
              <a:endParaRPr b="0" sz="1300">
                <a:solidFill>
                  <a:srgbClr val="475569"/>
                </a:solidFill>
                <a:latin typeface="Arimo"/>
                <a:ea typeface="Arimo"/>
                <a:cs typeface="Arimo"/>
                <a:sym typeface="Arimo"/>
              </a:endParaRPr>
            </a:p>
          </p:txBody>
        </p:sp>
      </p:grpSp>
      <p:grpSp>
        <p:nvGrpSpPr>
          <p:cNvPr id="347" name="Google Shape;347;p23"/>
          <p:cNvGrpSpPr/>
          <p:nvPr/>
        </p:nvGrpSpPr>
        <p:grpSpPr>
          <a:xfrm>
            <a:off x="6191250" y="4953000"/>
            <a:ext cx="5238900" cy="1524000"/>
            <a:chOff x="0" y="0"/>
            <a:chExt cx="5238900" cy="1524000"/>
          </a:xfrm>
        </p:grpSpPr>
        <p:sp>
          <p:nvSpPr>
            <p:cNvPr id="348" name="Google Shape;348;p23"/>
            <p:cNvSpPr/>
            <p:nvPr/>
          </p:nvSpPr>
          <p:spPr>
            <a:xfrm>
              <a:off x="0" y="0"/>
              <a:ext cx="52389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3"/>
            <p:cNvSpPr txBox="1"/>
            <p:nvPr/>
          </p:nvSpPr>
          <p:spPr>
            <a:xfrm>
              <a:off x="238125" y="2255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6B6D4"/>
                  </a:solidFill>
                  <a:latin typeface="Material Icons"/>
                  <a:ea typeface="Material Icons"/>
                  <a:cs typeface="Material Icons"/>
                  <a:sym typeface="Material Icons"/>
                </a:rPr>
                <a:t>language</a:t>
              </a:r>
              <a:endParaRPr sz="2400">
                <a:solidFill>
                  <a:srgbClr val="06B6D4"/>
                </a:solidFill>
                <a:latin typeface="Material Icons"/>
                <a:ea typeface="Material Icons"/>
                <a:cs typeface="Material Icons"/>
                <a:sym typeface="Material Icons"/>
              </a:endParaRPr>
            </a:p>
          </p:txBody>
        </p:sp>
        <p:sp>
          <p:nvSpPr>
            <p:cNvPr id="350" name="Google Shape;350;p23"/>
            <p:cNvSpPr txBox="1"/>
            <p:nvPr/>
          </p:nvSpPr>
          <p:spPr>
            <a:xfrm>
              <a:off x="762000" y="190500"/>
              <a:ext cx="428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mo"/>
                  <a:ea typeface="Arimo"/>
                  <a:cs typeface="Arimo"/>
                  <a:sym typeface="Arimo"/>
                </a:rPr>
                <a:t>Multi-Language Support</a:t>
              </a:r>
              <a:endParaRPr b="1" sz="1600">
                <a:solidFill>
                  <a:srgbClr val="0F172A"/>
                </a:solidFill>
                <a:latin typeface="Arimo"/>
                <a:ea typeface="Arimo"/>
                <a:cs typeface="Arimo"/>
                <a:sym typeface="Arimo"/>
              </a:endParaRPr>
            </a:p>
            <a:p>
              <a:pPr indent="0" lvl="0" marL="0" rtl="0" algn="l">
                <a:spcBef>
                  <a:spcPts val="600"/>
                </a:spcBef>
                <a:spcAft>
                  <a:spcPts val="0"/>
                </a:spcAft>
                <a:buNone/>
              </a:pPr>
              <a:r>
                <a:rPr b="0" lang="en-US" sz="1300">
                  <a:solidFill>
                    <a:srgbClr val="475569"/>
                  </a:solidFill>
                  <a:latin typeface="Arimo"/>
                  <a:ea typeface="Arimo"/>
                  <a:cs typeface="Arimo"/>
                  <a:sym typeface="Arimo"/>
                </a:rPr>
                <a:t>Locale detection to prompt agent responses in native languages (London, Singapore, Warsaw), enhancing global accessibility for international offices.</a:t>
              </a:r>
              <a:endParaRPr b="0" sz="1300">
                <a:solidFill>
                  <a:srgbClr val="475569"/>
                </a:solidFill>
                <a:latin typeface="Arimo"/>
                <a:ea typeface="Arimo"/>
                <a:cs typeface="Arimo"/>
                <a:sym typeface="Arim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